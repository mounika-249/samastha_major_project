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Times New Roman" charset="1" panose="02030502070405020303"/>
      <p:regular r:id="rId20"/>
    </p:embeddedFont>
    <p:embeddedFont>
      <p:font typeface="Times New Roman Bold" charset="1" panose="02030802070405020303"/>
      <p:regular r:id="rId21"/>
    </p:embeddedFont>
    <p:embeddedFont>
      <p:font typeface="Unna Bold" charset="1" panose="02040703070705020203"/>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jpeg" Type="http://schemas.openxmlformats.org/officeDocument/2006/relationships/image"/><Relationship Id="rId5" Target="../media/image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7F2ED"/>
        </a:solidFill>
      </p:bgPr>
    </p:bg>
    <p:spTree>
      <p:nvGrpSpPr>
        <p:cNvPr id="1" name=""/>
        <p:cNvGrpSpPr/>
        <p:nvPr/>
      </p:nvGrpSpPr>
      <p:grpSpPr>
        <a:xfrm>
          <a:off x="0" y="0"/>
          <a:ext cx="0" cy="0"/>
          <a:chOff x="0" y="0"/>
          <a:chExt cx="0" cy="0"/>
        </a:xfrm>
      </p:grpSpPr>
      <p:sp>
        <p:nvSpPr>
          <p:cNvPr name="TextBox 2" id="2"/>
          <p:cNvSpPr txBox="true"/>
          <p:nvPr/>
        </p:nvSpPr>
        <p:spPr>
          <a:xfrm rot="0">
            <a:off x="2950481" y="3679969"/>
            <a:ext cx="12387037" cy="2260370"/>
          </a:xfrm>
          <a:prstGeom prst="rect">
            <a:avLst/>
          </a:prstGeom>
        </p:spPr>
        <p:txBody>
          <a:bodyPr anchor="t" rtlCol="false" tIns="0" lIns="0" bIns="0" rIns="0">
            <a:spAutoFit/>
          </a:bodyPr>
          <a:lstStyle/>
          <a:p>
            <a:pPr algn="ctr">
              <a:lnSpc>
                <a:spcPts val="16641"/>
              </a:lnSpc>
            </a:pPr>
            <a:r>
              <a:rPr lang="en-US" sz="11886">
                <a:solidFill>
                  <a:srgbClr val="6E4823"/>
                </a:solidFill>
                <a:latin typeface="Times New Roman"/>
                <a:ea typeface="Times New Roman"/>
                <a:cs typeface="Times New Roman"/>
                <a:sym typeface="Times New Roman"/>
              </a:rPr>
              <a:t>SAMASTHA</a:t>
            </a:r>
          </a:p>
        </p:txBody>
      </p:sp>
      <p:sp>
        <p:nvSpPr>
          <p:cNvPr name="Freeform 3" id="3"/>
          <p:cNvSpPr/>
          <p:nvPr/>
        </p:nvSpPr>
        <p:spPr>
          <a:xfrm flipH="false" flipV="true" rot="5400000">
            <a:off x="13382135" y="-124826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5400000">
            <a:off x="133821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69662" y="10063142"/>
            <a:ext cx="18332860" cy="445690"/>
            <a:chOff x="0" y="0"/>
            <a:chExt cx="4828408" cy="117383"/>
          </a:xfrm>
        </p:grpSpPr>
        <p:sp>
          <p:nvSpPr>
            <p:cNvPr name="Freeform 6" id="6"/>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7" id="7"/>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69662" y="-221832"/>
            <a:ext cx="18332860" cy="445690"/>
            <a:chOff x="0" y="0"/>
            <a:chExt cx="4828408" cy="117383"/>
          </a:xfrm>
        </p:grpSpPr>
        <p:sp>
          <p:nvSpPr>
            <p:cNvPr name="Freeform 9" id="9"/>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10" id="10"/>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5496685" y="-2295812"/>
            <a:ext cx="1543050" cy="15297724"/>
            <a:chOff x="0" y="0"/>
            <a:chExt cx="406400" cy="4029030"/>
          </a:xfrm>
        </p:grpSpPr>
        <p:sp>
          <p:nvSpPr>
            <p:cNvPr name="Freeform 12" id="12"/>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13" id="13"/>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3750564" y="5543609"/>
            <a:ext cx="18263198" cy="790516"/>
          </a:xfrm>
          <a:prstGeom prst="rect">
            <a:avLst/>
          </a:prstGeom>
        </p:spPr>
        <p:txBody>
          <a:bodyPr anchor="t" rtlCol="false" tIns="0" lIns="0" bIns="0" rIns="0">
            <a:spAutoFit/>
          </a:bodyPr>
          <a:lstStyle/>
          <a:p>
            <a:pPr algn="ctr">
              <a:lnSpc>
                <a:spcPts val="5778"/>
              </a:lnSpc>
            </a:pPr>
            <a:r>
              <a:rPr lang="en-US" sz="4127">
                <a:solidFill>
                  <a:srgbClr val="6E4823"/>
                </a:solidFill>
                <a:latin typeface="Times New Roman"/>
                <a:ea typeface="Times New Roman"/>
                <a:cs typeface="Times New Roman"/>
                <a:sym typeface="Times New Roman"/>
              </a:rPr>
              <a:t>-Information in its purest form</a:t>
            </a:r>
          </a:p>
        </p:txBody>
      </p:sp>
      <p:sp>
        <p:nvSpPr>
          <p:cNvPr name="Freeform 15" id="15"/>
          <p:cNvSpPr/>
          <p:nvPr/>
        </p:nvSpPr>
        <p:spPr>
          <a:xfrm flipH="false" flipV="true" rot="-5400000">
            <a:off x="-24093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true" rot="5400000">
            <a:off x="-2409335" y="-1167282"/>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7" id="17"/>
          <p:cNvGrpSpPr/>
          <p:nvPr/>
        </p:nvGrpSpPr>
        <p:grpSpPr>
          <a:xfrm rot="0">
            <a:off x="1248265" y="-3074580"/>
            <a:ext cx="1543050" cy="15297724"/>
            <a:chOff x="0" y="0"/>
            <a:chExt cx="406400" cy="4029030"/>
          </a:xfrm>
        </p:grpSpPr>
        <p:sp>
          <p:nvSpPr>
            <p:cNvPr name="Freeform 18" id="18"/>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19" id="19"/>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12882163" y="8085839"/>
            <a:ext cx="3964380" cy="1067138"/>
          </a:xfrm>
          <a:prstGeom prst="rect">
            <a:avLst/>
          </a:prstGeom>
        </p:spPr>
        <p:txBody>
          <a:bodyPr anchor="t" rtlCol="false" tIns="0" lIns="0" bIns="0" rIns="0">
            <a:spAutoFit/>
          </a:bodyPr>
          <a:lstStyle/>
          <a:p>
            <a:pPr algn="ctr">
              <a:lnSpc>
                <a:spcPts val="4074"/>
              </a:lnSpc>
              <a:spcBef>
                <a:spcPct val="0"/>
              </a:spcBef>
            </a:pPr>
            <a:r>
              <a:rPr lang="en-US" sz="2910">
                <a:solidFill>
                  <a:srgbClr val="6E4823"/>
                </a:solidFill>
                <a:latin typeface="Times New Roman"/>
                <a:ea typeface="Times New Roman"/>
                <a:cs typeface="Times New Roman"/>
                <a:sym typeface="Times New Roman"/>
              </a:rPr>
              <a:t>N190263</a:t>
            </a:r>
          </a:p>
          <a:p>
            <a:pPr algn="ctr">
              <a:lnSpc>
                <a:spcPts val="4074"/>
              </a:lnSpc>
              <a:spcBef>
                <a:spcPct val="0"/>
              </a:spcBef>
            </a:pPr>
            <a:r>
              <a:rPr lang="en-US" sz="2910">
                <a:solidFill>
                  <a:srgbClr val="6E4823"/>
                </a:solidFill>
                <a:latin typeface="Times New Roman"/>
                <a:ea typeface="Times New Roman"/>
                <a:cs typeface="Times New Roman"/>
                <a:sym typeface="Times New Roman"/>
              </a:rPr>
              <a:t>B.M.S.Lakshmi Durga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2ED"/>
        </a:solidFill>
      </p:bgPr>
    </p:bg>
    <p:spTree>
      <p:nvGrpSpPr>
        <p:cNvPr id="1" name=""/>
        <p:cNvGrpSpPr/>
        <p:nvPr/>
      </p:nvGrpSpPr>
      <p:grpSpPr>
        <a:xfrm>
          <a:off x="0" y="0"/>
          <a:ext cx="0" cy="0"/>
          <a:chOff x="0" y="0"/>
          <a:chExt cx="0" cy="0"/>
        </a:xfrm>
      </p:grpSpPr>
      <p:sp>
        <p:nvSpPr>
          <p:cNvPr name="TextBox 2" id="2"/>
          <p:cNvSpPr txBox="true"/>
          <p:nvPr/>
        </p:nvSpPr>
        <p:spPr>
          <a:xfrm rot="0">
            <a:off x="0" y="762000"/>
            <a:ext cx="18263198" cy="1310927"/>
          </a:xfrm>
          <a:prstGeom prst="rect">
            <a:avLst/>
          </a:prstGeom>
        </p:spPr>
        <p:txBody>
          <a:bodyPr anchor="t" rtlCol="false" tIns="0" lIns="0" bIns="0" rIns="0">
            <a:spAutoFit/>
          </a:bodyPr>
          <a:lstStyle/>
          <a:p>
            <a:pPr algn="ctr">
              <a:lnSpc>
                <a:spcPts val="9646"/>
              </a:lnSpc>
            </a:pPr>
            <a:r>
              <a:rPr lang="en-US" b="true" sz="6890">
                <a:solidFill>
                  <a:srgbClr val="6E4823"/>
                </a:solidFill>
                <a:latin typeface="Times New Roman Bold"/>
                <a:ea typeface="Times New Roman Bold"/>
                <a:cs typeface="Times New Roman Bold"/>
                <a:sym typeface="Times New Roman Bold"/>
              </a:rPr>
              <a:t>ABSTRACT</a:t>
            </a:r>
          </a:p>
        </p:txBody>
      </p:sp>
      <p:sp>
        <p:nvSpPr>
          <p:cNvPr name="TextBox 3" id="3"/>
          <p:cNvSpPr txBox="true"/>
          <p:nvPr/>
        </p:nvSpPr>
        <p:spPr>
          <a:xfrm rot="0">
            <a:off x="3713167" y="2779539"/>
            <a:ext cx="11156451" cy="5784165"/>
          </a:xfrm>
          <a:prstGeom prst="rect">
            <a:avLst/>
          </a:prstGeom>
        </p:spPr>
        <p:txBody>
          <a:bodyPr anchor="t" rtlCol="false" tIns="0" lIns="0" bIns="0" rIns="0">
            <a:spAutoFit/>
          </a:bodyPr>
          <a:lstStyle/>
          <a:p>
            <a:pPr algn="just">
              <a:lnSpc>
                <a:spcPts val="5096"/>
              </a:lnSpc>
            </a:pPr>
            <a:r>
              <a:rPr lang="en-US" sz="3640">
                <a:solidFill>
                  <a:srgbClr val="6E4823"/>
                </a:solidFill>
                <a:latin typeface="Times New Roman"/>
                <a:ea typeface="Times New Roman"/>
                <a:cs typeface="Times New Roman"/>
                <a:sym typeface="Times New Roman"/>
              </a:rPr>
              <a:t>This project is a role-based web application aimed at supporting students in their academic and career planning. It features tailored dashboards for Super Admin, Admin, and Student roles. Key services include SOP Generator, Career Accelerator, and University Shortlist, which provide personalized outputs based on student data. My main contribution is frontend development and integration of backend APIs for these services</a:t>
            </a:r>
          </a:p>
        </p:txBody>
      </p:sp>
      <p:sp>
        <p:nvSpPr>
          <p:cNvPr name="Freeform 4" id="4"/>
          <p:cNvSpPr/>
          <p:nvPr/>
        </p:nvSpPr>
        <p:spPr>
          <a:xfrm flipH="false" flipV="true" rot="5400000">
            <a:off x="13382135" y="-124826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5400000">
            <a:off x="133821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69662" y="10063142"/>
            <a:ext cx="18332860" cy="445690"/>
            <a:chOff x="0" y="0"/>
            <a:chExt cx="4828408" cy="117383"/>
          </a:xfrm>
        </p:grpSpPr>
        <p:sp>
          <p:nvSpPr>
            <p:cNvPr name="Freeform 7" id="7"/>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8" id="8"/>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69662" y="-221832"/>
            <a:ext cx="18332860" cy="445690"/>
            <a:chOff x="0" y="0"/>
            <a:chExt cx="4828408" cy="117383"/>
          </a:xfrm>
        </p:grpSpPr>
        <p:sp>
          <p:nvSpPr>
            <p:cNvPr name="Freeform 10" id="10"/>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11" id="11"/>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sp>
        <p:nvSpPr>
          <p:cNvPr name="AutoShape 12" id="12"/>
          <p:cNvSpPr/>
          <p:nvPr/>
        </p:nvSpPr>
        <p:spPr>
          <a:xfrm>
            <a:off x="6197529" y="2072927"/>
            <a:ext cx="5870386" cy="0"/>
          </a:xfrm>
          <a:prstGeom prst="line">
            <a:avLst/>
          </a:prstGeom>
          <a:ln cap="flat" w="38100">
            <a:solidFill>
              <a:srgbClr val="AA8C6A"/>
            </a:solidFill>
            <a:prstDash val="solid"/>
            <a:headEnd type="none" len="sm" w="sm"/>
            <a:tailEnd type="none" len="sm" w="sm"/>
          </a:ln>
        </p:spPr>
      </p:sp>
      <p:grpSp>
        <p:nvGrpSpPr>
          <p:cNvPr name="Group 13" id="13"/>
          <p:cNvGrpSpPr/>
          <p:nvPr/>
        </p:nvGrpSpPr>
        <p:grpSpPr>
          <a:xfrm rot="0">
            <a:off x="15496685" y="-2295812"/>
            <a:ext cx="1543050" cy="15297724"/>
            <a:chOff x="0" y="0"/>
            <a:chExt cx="406400" cy="4029030"/>
          </a:xfrm>
        </p:grpSpPr>
        <p:sp>
          <p:nvSpPr>
            <p:cNvPr name="Freeform 14" id="14"/>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15" id="15"/>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true" rot="-5400000">
            <a:off x="-24093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true" rot="5400000">
            <a:off x="-2409335" y="-1167282"/>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8" id="18"/>
          <p:cNvGrpSpPr/>
          <p:nvPr/>
        </p:nvGrpSpPr>
        <p:grpSpPr>
          <a:xfrm rot="0">
            <a:off x="1248265" y="-3074580"/>
            <a:ext cx="1543050" cy="15297724"/>
            <a:chOff x="0" y="0"/>
            <a:chExt cx="406400" cy="4029030"/>
          </a:xfrm>
        </p:grpSpPr>
        <p:sp>
          <p:nvSpPr>
            <p:cNvPr name="Freeform 19" id="19"/>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20" id="20"/>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2ED"/>
        </a:solidFill>
      </p:bgPr>
    </p:bg>
    <p:spTree>
      <p:nvGrpSpPr>
        <p:cNvPr id="1" name=""/>
        <p:cNvGrpSpPr/>
        <p:nvPr/>
      </p:nvGrpSpPr>
      <p:grpSpPr>
        <a:xfrm>
          <a:off x="0" y="0"/>
          <a:ext cx="0" cy="0"/>
          <a:chOff x="0" y="0"/>
          <a:chExt cx="0" cy="0"/>
        </a:xfrm>
      </p:grpSpPr>
      <p:sp>
        <p:nvSpPr>
          <p:cNvPr name="TextBox 2" id="2"/>
          <p:cNvSpPr txBox="true"/>
          <p:nvPr/>
        </p:nvSpPr>
        <p:spPr>
          <a:xfrm rot="0">
            <a:off x="24802" y="762000"/>
            <a:ext cx="18263198" cy="1310927"/>
          </a:xfrm>
          <a:prstGeom prst="rect">
            <a:avLst/>
          </a:prstGeom>
        </p:spPr>
        <p:txBody>
          <a:bodyPr anchor="t" rtlCol="false" tIns="0" lIns="0" bIns="0" rIns="0">
            <a:spAutoFit/>
          </a:bodyPr>
          <a:lstStyle/>
          <a:p>
            <a:pPr algn="ctr">
              <a:lnSpc>
                <a:spcPts val="9646"/>
              </a:lnSpc>
            </a:pPr>
            <a:r>
              <a:rPr lang="en-US" b="true" sz="6890">
                <a:solidFill>
                  <a:srgbClr val="6E4823"/>
                </a:solidFill>
                <a:latin typeface="Times New Roman Bold"/>
                <a:ea typeface="Times New Roman Bold"/>
                <a:cs typeface="Times New Roman Bold"/>
                <a:sym typeface="Times New Roman Bold"/>
              </a:rPr>
              <a:t>INTRODUCTION</a:t>
            </a:r>
          </a:p>
        </p:txBody>
      </p:sp>
      <p:sp>
        <p:nvSpPr>
          <p:cNvPr name="TextBox 3" id="3"/>
          <p:cNvSpPr txBox="true"/>
          <p:nvPr/>
        </p:nvSpPr>
        <p:spPr>
          <a:xfrm rot="0">
            <a:off x="3713167" y="2874455"/>
            <a:ext cx="11156451" cy="4507881"/>
          </a:xfrm>
          <a:prstGeom prst="rect">
            <a:avLst/>
          </a:prstGeom>
        </p:spPr>
        <p:txBody>
          <a:bodyPr anchor="t" rtlCol="false" tIns="0" lIns="0" bIns="0" rIns="0">
            <a:spAutoFit/>
          </a:bodyPr>
          <a:lstStyle/>
          <a:p>
            <a:pPr algn="just">
              <a:lnSpc>
                <a:spcPts val="5096"/>
              </a:lnSpc>
            </a:pPr>
            <a:r>
              <a:rPr lang="en-US" sz="3640">
                <a:solidFill>
                  <a:srgbClr val="6E4823"/>
                </a:solidFill>
                <a:latin typeface="Times New Roman"/>
                <a:ea typeface="Times New Roman"/>
                <a:cs typeface="Times New Roman"/>
                <a:sym typeface="Times New Roman"/>
              </a:rPr>
              <a:t>Students often face challenges in planning their academic and career paths due to a lack of structured guidance and tools. Educational institutions also need efficient systems to manage students and provide relevant services. This project was initiated to address these needs by creating a platform that bridges this gap through digital solutions and personalized experiences</a:t>
            </a:r>
          </a:p>
        </p:txBody>
      </p:sp>
      <p:sp>
        <p:nvSpPr>
          <p:cNvPr name="Freeform 4" id="4"/>
          <p:cNvSpPr/>
          <p:nvPr/>
        </p:nvSpPr>
        <p:spPr>
          <a:xfrm flipH="false" flipV="true" rot="5400000">
            <a:off x="13382135" y="-124826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5400000">
            <a:off x="133821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69662" y="10063142"/>
            <a:ext cx="18332860" cy="445690"/>
            <a:chOff x="0" y="0"/>
            <a:chExt cx="4828408" cy="117383"/>
          </a:xfrm>
        </p:grpSpPr>
        <p:sp>
          <p:nvSpPr>
            <p:cNvPr name="Freeform 7" id="7"/>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8" id="8"/>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69662" y="-221832"/>
            <a:ext cx="18332860" cy="445690"/>
            <a:chOff x="0" y="0"/>
            <a:chExt cx="4828408" cy="117383"/>
          </a:xfrm>
        </p:grpSpPr>
        <p:sp>
          <p:nvSpPr>
            <p:cNvPr name="Freeform 10" id="10"/>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11" id="11"/>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sp>
        <p:nvSpPr>
          <p:cNvPr name="AutoShape 12" id="12"/>
          <p:cNvSpPr/>
          <p:nvPr/>
        </p:nvSpPr>
        <p:spPr>
          <a:xfrm>
            <a:off x="4808143" y="2072927"/>
            <a:ext cx="8673507" cy="0"/>
          </a:xfrm>
          <a:prstGeom prst="line">
            <a:avLst/>
          </a:prstGeom>
          <a:ln cap="flat" w="38100">
            <a:solidFill>
              <a:srgbClr val="AA8C6A"/>
            </a:solidFill>
            <a:prstDash val="solid"/>
            <a:headEnd type="none" len="sm" w="sm"/>
            <a:tailEnd type="none" len="sm" w="sm"/>
          </a:ln>
        </p:spPr>
      </p:sp>
      <p:grpSp>
        <p:nvGrpSpPr>
          <p:cNvPr name="Group 13" id="13"/>
          <p:cNvGrpSpPr/>
          <p:nvPr/>
        </p:nvGrpSpPr>
        <p:grpSpPr>
          <a:xfrm rot="0">
            <a:off x="15496685" y="-2295812"/>
            <a:ext cx="1543050" cy="15297724"/>
            <a:chOff x="0" y="0"/>
            <a:chExt cx="406400" cy="4029030"/>
          </a:xfrm>
        </p:grpSpPr>
        <p:sp>
          <p:nvSpPr>
            <p:cNvPr name="Freeform 14" id="14"/>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15" id="15"/>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true" rot="-5400000">
            <a:off x="-24093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true" rot="5400000">
            <a:off x="-2409335" y="-1167282"/>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8" id="18"/>
          <p:cNvGrpSpPr/>
          <p:nvPr/>
        </p:nvGrpSpPr>
        <p:grpSpPr>
          <a:xfrm rot="0">
            <a:off x="1248265" y="-3074580"/>
            <a:ext cx="1543050" cy="15297724"/>
            <a:chOff x="0" y="0"/>
            <a:chExt cx="406400" cy="4029030"/>
          </a:xfrm>
        </p:grpSpPr>
        <p:sp>
          <p:nvSpPr>
            <p:cNvPr name="Freeform 19" id="19"/>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20" id="20"/>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2ED"/>
        </a:solidFill>
      </p:bgPr>
    </p:bg>
    <p:spTree>
      <p:nvGrpSpPr>
        <p:cNvPr id="1" name=""/>
        <p:cNvGrpSpPr/>
        <p:nvPr/>
      </p:nvGrpSpPr>
      <p:grpSpPr>
        <a:xfrm>
          <a:off x="0" y="0"/>
          <a:ext cx="0" cy="0"/>
          <a:chOff x="0" y="0"/>
          <a:chExt cx="0" cy="0"/>
        </a:xfrm>
      </p:grpSpPr>
      <p:sp>
        <p:nvSpPr>
          <p:cNvPr name="TextBox 2" id="2"/>
          <p:cNvSpPr txBox="true"/>
          <p:nvPr/>
        </p:nvSpPr>
        <p:spPr>
          <a:xfrm rot="0">
            <a:off x="0" y="781050"/>
            <a:ext cx="18288000" cy="1235265"/>
          </a:xfrm>
          <a:prstGeom prst="rect">
            <a:avLst/>
          </a:prstGeom>
        </p:spPr>
        <p:txBody>
          <a:bodyPr anchor="t" rtlCol="false" tIns="0" lIns="0" bIns="0" rIns="0">
            <a:spAutoFit/>
          </a:bodyPr>
          <a:lstStyle/>
          <a:p>
            <a:pPr algn="ctr">
              <a:lnSpc>
                <a:spcPts val="9089"/>
              </a:lnSpc>
            </a:pPr>
            <a:r>
              <a:rPr lang="en-US" b="true" sz="6492">
                <a:solidFill>
                  <a:srgbClr val="6E4823"/>
                </a:solidFill>
                <a:latin typeface="Times New Roman Bold"/>
                <a:ea typeface="Times New Roman Bold"/>
                <a:cs typeface="Times New Roman Bold"/>
                <a:sym typeface="Times New Roman Bold"/>
              </a:rPr>
              <a:t>PROPOSED METHODOLOGY</a:t>
            </a:r>
          </a:p>
        </p:txBody>
      </p:sp>
      <p:sp>
        <p:nvSpPr>
          <p:cNvPr name="TextBox 3" id="3"/>
          <p:cNvSpPr txBox="true"/>
          <p:nvPr/>
        </p:nvSpPr>
        <p:spPr>
          <a:xfrm rot="0">
            <a:off x="2791315" y="2807450"/>
            <a:ext cx="12705370" cy="2784401"/>
          </a:xfrm>
          <a:prstGeom prst="rect">
            <a:avLst/>
          </a:prstGeom>
        </p:spPr>
        <p:txBody>
          <a:bodyPr anchor="t" rtlCol="false" tIns="0" lIns="0" bIns="0" rIns="0">
            <a:spAutoFit/>
          </a:bodyPr>
          <a:lstStyle/>
          <a:p>
            <a:pPr algn="just" marL="1107117" indent="-553558" lvl="1">
              <a:lnSpc>
                <a:spcPts val="7179"/>
              </a:lnSpc>
              <a:buAutoNum type="arabicPeriod" startAt="1"/>
            </a:pPr>
            <a:r>
              <a:rPr lang="en-US" sz="5127">
                <a:solidFill>
                  <a:srgbClr val="6E4823"/>
                </a:solidFill>
                <a:latin typeface="Times New Roman"/>
                <a:ea typeface="Times New Roman"/>
                <a:cs typeface="Times New Roman"/>
                <a:sym typeface="Times New Roman"/>
              </a:rPr>
              <a:t>User Authentication</a:t>
            </a:r>
          </a:p>
          <a:p>
            <a:pPr algn="just" marL="1107117" indent="-553558" lvl="1">
              <a:lnSpc>
                <a:spcPts val="7179"/>
              </a:lnSpc>
              <a:buAutoNum type="arabicPeriod" startAt="1"/>
            </a:pPr>
            <a:r>
              <a:rPr lang="en-US" sz="5127">
                <a:solidFill>
                  <a:srgbClr val="6E4823"/>
                </a:solidFill>
                <a:latin typeface="Times New Roman"/>
                <a:ea typeface="Times New Roman"/>
                <a:cs typeface="Times New Roman"/>
                <a:sym typeface="Times New Roman"/>
              </a:rPr>
              <a:t>Role-Based Dashboards</a:t>
            </a:r>
          </a:p>
          <a:p>
            <a:pPr algn="just" marL="1107117" indent="-553558" lvl="1">
              <a:lnSpc>
                <a:spcPts val="7179"/>
              </a:lnSpc>
              <a:buAutoNum type="arabicPeriod" startAt="1"/>
            </a:pPr>
            <a:r>
              <a:rPr lang="en-US" sz="5127">
                <a:solidFill>
                  <a:srgbClr val="6E4823"/>
                </a:solidFill>
                <a:latin typeface="Times New Roman"/>
                <a:ea typeface="Times New Roman"/>
                <a:cs typeface="Times New Roman"/>
                <a:sym typeface="Times New Roman"/>
              </a:rPr>
              <a:t>Services for Students</a:t>
            </a:r>
          </a:p>
        </p:txBody>
      </p:sp>
      <p:sp>
        <p:nvSpPr>
          <p:cNvPr name="Freeform 4" id="4"/>
          <p:cNvSpPr/>
          <p:nvPr/>
        </p:nvSpPr>
        <p:spPr>
          <a:xfrm flipH="false" flipV="true" rot="5400000">
            <a:off x="13382135" y="-124826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5400000">
            <a:off x="133821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69662" y="10063142"/>
            <a:ext cx="18332860" cy="445690"/>
            <a:chOff x="0" y="0"/>
            <a:chExt cx="4828408" cy="117383"/>
          </a:xfrm>
        </p:grpSpPr>
        <p:sp>
          <p:nvSpPr>
            <p:cNvPr name="Freeform 7" id="7"/>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8" id="8"/>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69662" y="-221832"/>
            <a:ext cx="18332860" cy="445690"/>
            <a:chOff x="0" y="0"/>
            <a:chExt cx="4828408" cy="117383"/>
          </a:xfrm>
        </p:grpSpPr>
        <p:sp>
          <p:nvSpPr>
            <p:cNvPr name="Freeform 10" id="10"/>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11" id="11"/>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sp>
        <p:nvSpPr>
          <p:cNvPr name="AutoShape 12" id="12"/>
          <p:cNvSpPr/>
          <p:nvPr/>
        </p:nvSpPr>
        <p:spPr>
          <a:xfrm>
            <a:off x="2348178" y="2016315"/>
            <a:ext cx="13443292" cy="56548"/>
          </a:xfrm>
          <a:prstGeom prst="line">
            <a:avLst/>
          </a:prstGeom>
          <a:ln cap="flat" w="38100">
            <a:solidFill>
              <a:srgbClr val="AA8C6A"/>
            </a:solidFill>
            <a:prstDash val="solid"/>
            <a:headEnd type="none" len="sm" w="sm"/>
            <a:tailEnd type="none" len="sm" w="sm"/>
          </a:ln>
        </p:spPr>
      </p:sp>
      <p:grpSp>
        <p:nvGrpSpPr>
          <p:cNvPr name="Group 13" id="13"/>
          <p:cNvGrpSpPr/>
          <p:nvPr/>
        </p:nvGrpSpPr>
        <p:grpSpPr>
          <a:xfrm rot="0">
            <a:off x="15496685" y="-2295812"/>
            <a:ext cx="1543050" cy="15297724"/>
            <a:chOff x="0" y="0"/>
            <a:chExt cx="406400" cy="4029030"/>
          </a:xfrm>
        </p:grpSpPr>
        <p:sp>
          <p:nvSpPr>
            <p:cNvPr name="Freeform 14" id="14"/>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15" id="15"/>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true" rot="-5400000">
            <a:off x="-24093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true" rot="5400000">
            <a:off x="-2409335" y="-1167282"/>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8" id="18"/>
          <p:cNvGrpSpPr/>
          <p:nvPr/>
        </p:nvGrpSpPr>
        <p:grpSpPr>
          <a:xfrm rot="0">
            <a:off x="1248265" y="-3074580"/>
            <a:ext cx="1543050" cy="15297724"/>
            <a:chOff x="0" y="0"/>
            <a:chExt cx="406400" cy="4029030"/>
          </a:xfrm>
        </p:grpSpPr>
        <p:sp>
          <p:nvSpPr>
            <p:cNvPr name="Freeform 19" id="19"/>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20" id="20"/>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2ED"/>
        </a:solidFill>
      </p:bgPr>
    </p:bg>
    <p:spTree>
      <p:nvGrpSpPr>
        <p:cNvPr id="1" name=""/>
        <p:cNvGrpSpPr/>
        <p:nvPr/>
      </p:nvGrpSpPr>
      <p:grpSpPr>
        <a:xfrm>
          <a:off x="0" y="0"/>
          <a:ext cx="0" cy="0"/>
          <a:chOff x="0" y="0"/>
          <a:chExt cx="0" cy="0"/>
        </a:xfrm>
      </p:grpSpPr>
      <p:sp>
        <p:nvSpPr>
          <p:cNvPr name="TextBox 2" id="2"/>
          <p:cNvSpPr txBox="true"/>
          <p:nvPr/>
        </p:nvSpPr>
        <p:spPr>
          <a:xfrm rot="0">
            <a:off x="24802" y="691718"/>
            <a:ext cx="18263198" cy="1310927"/>
          </a:xfrm>
          <a:prstGeom prst="rect">
            <a:avLst/>
          </a:prstGeom>
        </p:spPr>
        <p:txBody>
          <a:bodyPr anchor="t" rtlCol="false" tIns="0" lIns="0" bIns="0" rIns="0">
            <a:spAutoFit/>
          </a:bodyPr>
          <a:lstStyle/>
          <a:p>
            <a:pPr algn="ctr">
              <a:lnSpc>
                <a:spcPts val="9646"/>
              </a:lnSpc>
            </a:pPr>
            <a:r>
              <a:rPr lang="en-US" b="true" sz="6890">
                <a:solidFill>
                  <a:srgbClr val="6E4823"/>
                </a:solidFill>
                <a:latin typeface="Times New Roman Bold"/>
                <a:ea typeface="Times New Roman Bold"/>
                <a:cs typeface="Times New Roman Bold"/>
                <a:sym typeface="Times New Roman Bold"/>
              </a:rPr>
              <a:t>EXPERIMENTAL SETUP</a:t>
            </a:r>
          </a:p>
        </p:txBody>
      </p:sp>
      <p:sp>
        <p:nvSpPr>
          <p:cNvPr name="TextBox 3" id="3"/>
          <p:cNvSpPr txBox="true"/>
          <p:nvPr/>
        </p:nvSpPr>
        <p:spPr>
          <a:xfrm rot="0">
            <a:off x="4261214" y="3101647"/>
            <a:ext cx="9790374" cy="3186498"/>
          </a:xfrm>
          <a:prstGeom prst="rect">
            <a:avLst/>
          </a:prstGeom>
        </p:spPr>
        <p:txBody>
          <a:bodyPr anchor="t" rtlCol="false" tIns="0" lIns="0" bIns="0" rIns="0">
            <a:spAutoFit/>
          </a:bodyPr>
          <a:lstStyle/>
          <a:p>
            <a:pPr algn="l" marL="768676" indent="-384338" lvl="1">
              <a:lnSpc>
                <a:spcPts val="4984"/>
              </a:lnSpc>
              <a:buFont typeface="Arial"/>
              <a:buChar char="•"/>
            </a:pPr>
            <a:r>
              <a:rPr lang="en-US" sz="3560">
                <a:solidFill>
                  <a:srgbClr val="6E4823"/>
                </a:solidFill>
                <a:latin typeface="Times New Roman"/>
                <a:ea typeface="Times New Roman"/>
                <a:cs typeface="Times New Roman"/>
                <a:sym typeface="Times New Roman"/>
              </a:rPr>
              <a:t>Frontend: React, TypeScript, Tailwind CSS</a:t>
            </a:r>
          </a:p>
          <a:p>
            <a:pPr algn="l" marL="768676" indent="-384338" lvl="1">
              <a:lnSpc>
                <a:spcPts val="4984"/>
              </a:lnSpc>
              <a:buFont typeface="Arial"/>
              <a:buChar char="•"/>
            </a:pPr>
            <a:r>
              <a:rPr lang="en-US" sz="3560">
                <a:solidFill>
                  <a:srgbClr val="6E4823"/>
                </a:solidFill>
                <a:latin typeface="Times New Roman"/>
                <a:ea typeface="Times New Roman"/>
                <a:cs typeface="Times New Roman"/>
                <a:sym typeface="Times New Roman"/>
              </a:rPr>
              <a:t>Backend: Node.js</a:t>
            </a:r>
          </a:p>
          <a:p>
            <a:pPr algn="l" marL="768676" indent="-384338" lvl="1">
              <a:lnSpc>
                <a:spcPts val="4984"/>
              </a:lnSpc>
              <a:buFont typeface="Arial"/>
              <a:buChar char="•"/>
            </a:pPr>
            <a:r>
              <a:rPr lang="en-US" sz="3560">
                <a:solidFill>
                  <a:srgbClr val="6E4823"/>
                </a:solidFill>
                <a:latin typeface="Times New Roman"/>
                <a:ea typeface="Times New Roman"/>
                <a:cs typeface="Times New Roman"/>
                <a:sym typeface="Times New Roman"/>
              </a:rPr>
              <a:t>Database: MySQL</a:t>
            </a:r>
          </a:p>
          <a:p>
            <a:pPr algn="l" marL="768676" indent="-384338" lvl="1">
              <a:lnSpc>
                <a:spcPts val="4984"/>
              </a:lnSpc>
              <a:buFont typeface="Arial"/>
              <a:buChar char="•"/>
            </a:pPr>
            <a:r>
              <a:rPr lang="en-US" sz="3560">
                <a:solidFill>
                  <a:srgbClr val="6E4823"/>
                </a:solidFill>
                <a:latin typeface="Times New Roman"/>
                <a:ea typeface="Times New Roman"/>
                <a:cs typeface="Times New Roman"/>
                <a:sym typeface="Times New Roman"/>
              </a:rPr>
              <a:t>Routing: TanStack Router</a:t>
            </a:r>
          </a:p>
          <a:p>
            <a:pPr algn="l" marL="768676" indent="-384338" lvl="1">
              <a:lnSpc>
                <a:spcPts val="4984"/>
              </a:lnSpc>
              <a:buFont typeface="Arial"/>
              <a:buChar char="•"/>
            </a:pPr>
            <a:r>
              <a:rPr lang="en-US" sz="3560">
                <a:solidFill>
                  <a:srgbClr val="6E4823"/>
                </a:solidFill>
                <a:latin typeface="Times New Roman"/>
                <a:ea typeface="Times New Roman"/>
                <a:cs typeface="Times New Roman"/>
                <a:sym typeface="Times New Roman"/>
              </a:rPr>
              <a:t>State Management: Zustand</a:t>
            </a:r>
          </a:p>
        </p:txBody>
      </p:sp>
      <p:sp>
        <p:nvSpPr>
          <p:cNvPr name="Freeform 4" id="4"/>
          <p:cNvSpPr/>
          <p:nvPr/>
        </p:nvSpPr>
        <p:spPr>
          <a:xfrm flipH="false" flipV="true" rot="5400000">
            <a:off x="13382135" y="-124826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5400000">
            <a:off x="133821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69662" y="10063142"/>
            <a:ext cx="18332860" cy="445690"/>
            <a:chOff x="0" y="0"/>
            <a:chExt cx="4828408" cy="117383"/>
          </a:xfrm>
        </p:grpSpPr>
        <p:sp>
          <p:nvSpPr>
            <p:cNvPr name="Freeform 7" id="7"/>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8" id="8"/>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69662" y="-221832"/>
            <a:ext cx="18332860" cy="445690"/>
            <a:chOff x="0" y="0"/>
            <a:chExt cx="4828408" cy="117383"/>
          </a:xfrm>
        </p:grpSpPr>
        <p:sp>
          <p:nvSpPr>
            <p:cNvPr name="Freeform 10" id="10"/>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11" id="11"/>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sp>
        <p:nvSpPr>
          <p:cNvPr name="AutoShape 12" id="12"/>
          <p:cNvSpPr/>
          <p:nvPr/>
        </p:nvSpPr>
        <p:spPr>
          <a:xfrm>
            <a:off x="3541184" y="2002645"/>
            <a:ext cx="11144621" cy="0"/>
          </a:xfrm>
          <a:prstGeom prst="line">
            <a:avLst/>
          </a:prstGeom>
          <a:ln cap="flat" w="38100">
            <a:solidFill>
              <a:srgbClr val="AA8C6A"/>
            </a:solidFill>
            <a:prstDash val="solid"/>
            <a:headEnd type="none" len="sm" w="sm"/>
            <a:tailEnd type="none" len="sm" w="sm"/>
          </a:ln>
        </p:spPr>
      </p:sp>
      <p:grpSp>
        <p:nvGrpSpPr>
          <p:cNvPr name="Group 13" id="13"/>
          <p:cNvGrpSpPr/>
          <p:nvPr/>
        </p:nvGrpSpPr>
        <p:grpSpPr>
          <a:xfrm rot="0">
            <a:off x="15496685" y="-2295812"/>
            <a:ext cx="1543050" cy="15297724"/>
            <a:chOff x="0" y="0"/>
            <a:chExt cx="406400" cy="4029030"/>
          </a:xfrm>
        </p:grpSpPr>
        <p:sp>
          <p:nvSpPr>
            <p:cNvPr name="Freeform 14" id="14"/>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15" id="15"/>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true" rot="-5400000">
            <a:off x="-24093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true" rot="5400000">
            <a:off x="-2409335" y="-1167282"/>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8" id="18"/>
          <p:cNvGrpSpPr/>
          <p:nvPr/>
        </p:nvGrpSpPr>
        <p:grpSpPr>
          <a:xfrm rot="0">
            <a:off x="1248265" y="-3074580"/>
            <a:ext cx="1543050" cy="15297724"/>
            <a:chOff x="0" y="0"/>
            <a:chExt cx="406400" cy="4029030"/>
          </a:xfrm>
        </p:grpSpPr>
        <p:sp>
          <p:nvSpPr>
            <p:cNvPr name="Freeform 19" id="19"/>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20" id="20"/>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
        <p:nvSpPr>
          <p:cNvPr name="TextBox 21" id="21"/>
          <p:cNvSpPr txBox="true"/>
          <p:nvPr/>
        </p:nvSpPr>
        <p:spPr>
          <a:xfrm rot="0">
            <a:off x="4062635" y="2157027"/>
            <a:ext cx="10623170" cy="1000954"/>
          </a:xfrm>
          <a:prstGeom prst="rect">
            <a:avLst/>
          </a:prstGeom>
        </p:spPr>
        <p:txBody>
          <a:bodyPr anchor="t" rtlCol="false" tIns="0" lIns="0" bIns="0" rIns="0">
            <a:spAutoFit/>
          </a:bodyPr>
          <a:lstStyle/>
          <a:p>
            <a:pPr algn="l">
              <a:lnSpc>
                <a:spcPts val="7302"/>
              </a:lnSpc>
              <a:spcBef>
                <a:spcPct val="0"/>
              </a:spcBef>
            </a:pPr>
            <a:r>
              <a:rPr lang="en-US" sz="5216">
                <a:solidFill>
                  <a:srgbClr val="6E4823"/>
                </a:solidFill>
                <a:latin typeface="Times New Roman"/>
                <a:ea typeface="Times New Roman"/>
                <a:cs typeface="Times New Roman"/>
                <a:sym typeface="Times New Roman"/>
              </a:rPr>
              <a:t>Technologies Used:</a:t>
            </a:r>
          </a:p>
        </p:txBody>
      </p:sp>
      <p:sp>
        <p:nvSpPr>
          <p:cNvPr name="TextBox 22" id="22"/>
          <p:cNvSpPr txBox="true"/>
          <p:nvPr/>
        </p:nvSpPr>
        <p:spPr>
          <a:xfrm rot="0">
            <a:off x="4062635" y="6287323"/>
            <a:ext cx="2834680" cy="1033973"/>
          </a:xfrm>
          <a:prstGeom prst="rect">
            <a:avLst/>
          </a:prstGeom>
        </p:spPr>
        <p:txBody>
          <a:bodyPr anchor="t" rtlCol="false" tIns="0" lIns="0" bIns="0" rIns="0">
            <a:spAutoFit/>
          </a:bodyPr>
          <a:lstStyle/>
          <a:p>
            <a:pPr algn="ctr">
              <a:lnSpc>
                <a:spcPts val="7588"/>
              </a:lnSpc>
              <a:spcBef>
                <a:spcPct val="0"/>
              </a:spcBef>
            </a:pPr>
            <a:r>
              <a:rPr lang="en-US" sz="5420">
                <a:solidFill>
                  <a:srgbClr val="6E4823"/>
                </a:solidFill>
                <a:latin typeface="Times New Roman"/>
                <a:ea typeface="Times New Roman"/>
                <a:cs typeface="Times New Roman"/>
                <a:sym typeface="Times New Roman"/>
              </a:rPr>
              <a:t>Libraries:</a:t>
            </a:r>
          </a:p>
        </p:txBody>
      </p:sp>
      <p:sp>
        <p:nvSpPr>
          <p:cNvPr name="TextBox 23" id="23"/>
          <p:cNvSpPr txBox="true"/>
          <p:nvPr/>
        </p:nvSpPr>
        <p:spPr>
          <a:xfrm rot="0">
            <a:off x="4261214" y="7396673"/>
            <a:ext cx="4432598" cy="671643"/>
          </a:xfrm>
          <a:prstGeom prst="rect">
            <a:avLst/>
          </a:prstGeom>
        </p:spPr>
        <p:txBody>
          <a:bodyPr anchor="t" rtlCol="false" tIns="0" lIns="0" bIns="0" rIns="0">
            <a:spAutoFit/>
          </a:bodyPr>
          <a:lstStyle/>
          <a:p>
            <a:pPr algn="ctr" marL="768596" indent="-384298" lvl="1">
              <a:lnSpc>
                <a:spcPts val="4983"/>
              </a:lnSpc>
              <a:buFont typeface="Arial"/>
              <a:buChar char="•"/>
            </a:pPr>
            <a:r>
              <a:rPr lang="en-US" sz="3559">
                <a:solidFill>
                  <a:srgbClr val="6E4823"/>
                </a:solidFill>
                <a:latin typeface="Times New Roman"/>
                <a:ea typeface="Times New Roman"/>
                <a:cs typeface="Times New Roman"/>
                <a:sym typeface="Times New Roman"/>
              </a:rPr>
              <a:t>Axi</a:t>
            </a:r>
            <a:r>
              <a:rPr lang="en-US" sz="3559">
                <a:solidFill>
                  <a:srgbClr val="6E4823"/>
                </a:solidFill>
                <a:latin typeface="Times New Roman"/>
                <a:ea typeface="Times New Roman"/>
                <a:cs typeface="Times New Roman"/>
                <a:sym typeface="Times New Roman"/>
              </a:rPr>
              <a:t>os, ShadCN UI</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2ED"/>
        </a:solidFill>
      </p:bgPr>
    </p:bg>
    <p:spTree>
      <p:nvGrpSpPr>
        <p:cNvPr id="1" name=""/>
        <p:cNvGrpSpPr/>
        <p:nvPr/>
      </p:nvGrpSpPr>
      <p:grpSpPr>
        <a:xfrm>
          <a:off x="0" y="0"/>
          <a:ext cx="0" cy="0"/>
          <a:chOff x="0" y="0"/>
          <a:chExt cx="0" cy="0"/>
        </a:xfrm>
      </p:grpSpPr>
      <p:sp>
        <p:nvSpPr>
          <p:cNvPr name="TextBox 2" id="2"/>
          <p:cNvSpPr txBox="true"/>
          <p:nvPr/>
        </p:nvSpPr>
        <p:spPr>
          <a:xfrm rot="0">
            <a:off x="24802" y="591528"/>
            <a:ext cx="18263198" cy="1310894"/>
          </a:xfrm>
          <a:prstGeom prst="rect">
            <a:avLst/>
          </a:prstGeom>
        </p:spPr>
        <p:txBody>
          <a:bodyPr anchor="t" rtlCol="false" tIns="0" lIns="0" bIns="0" rIns="0">
            <a:spAutoFit/>
          </a:bodyPr>
          <a:lstStyle/>
          <a:p>
            <a:pPr algn="ctr">
              <a:lnSpc>
                <a:spcPts val="9646"/>
              </a:lnSpc>
            </a:pPr>
            <a:r>
              <a:rPr lang="en-US" b="true" sz="6890">
                <a:solidFill>
                  <a:srgbClr val="6E4823"/>
                </a:solidFill>
                <a:latin typeface="Times New Roman Bold"/>
                <a:ea typeface="Times New Roman Bold"/>
                <a:cs typeface="Times New Roman Bold"/>
                <a:sym typeface="Times New Roman Bold"/>
              </a:rPr>
              <a:t>EXPERIMENTAL SETUP</a:t>
            </a:r>
          </a:p>
        </p:txBody>
      </p:sp>
      <p:sp>
        <p:nvSpPr>
          <p:cNvPr name="TextBox 3" id="3"/>
          <p:cNvSpPr txBox="true"/>
          <p:nvPr/>
        </p:nvSpPr>
        <p:spPr>
          <a:xfrm rot="0">
            <a:off x="3785183" y="3423984"/>
            <a:ext cx="11339050" cy="2557782"/>
          </a:xfrm>
          <a:prstGeom prst="rect">
            <a:avLst/>
          </a:prstGeom>
        </p:spPr>
        <p:txBody>
          <a:bodyPr anchor="t" rtlCol="false" tIns="0" lIns="0" bIns="0" rIns="0">
            <a:spAutoFit/>
          </a:bodyPr>
          <a:lstStyle/>
          <a:p>
            <a:pPr algn="just" marL="768676" indent="-384338" lvl="1">
              <a:lnSpc>
                <a:spcPts val="4984"/>
              </a:lnSpc>
              <a:buFont typeface="Arial"/>
              <a:buChar char="•"/>
            </a:pPr>
            <a:r>
              <a:rPr lang="en-US" sz="3560">
                <a:solidFill>
                  <a:srgbClr val="6E4823"/>
                </a:solidFill>
                <a:latin typeface="Times New Roman"/>
                <a:ea typeface="Times New Roman"/>
                <a:cs typeface="Times New Roman"/>
                <a:sym typeface="Times New Roman"/>
              </a:rPr>
              <a:t>Processor: AMD Ryzen with 3 3250U with Radeon Graphics </a:t>
            </a:r>
          </a:p>
          <a:p>
            <a:pPr algn="l" marL="768676" indent="-384338" lvl="1">
              <a:lnSpc>
                <a:spcPts val="4984"/>
              </a:lnSpc>
              <a:buFont typeface="Arial"/>
              <a:buChar char="•"/>
            </a:pPr>
            <a:r>
              <a:rPr lang="en-US" sz="3560">
                <a:solidFill>
                  <a:srgbClr val="6E4823"/>
                </a:solidFill>
                <a:latin typeface="Times New Roman"/>
                <a:ea typeface="Times New Roman"/>
                <a:cs typeface="Times New Roman"/>
                <a:sym typeface="Times New Roman"/>
              </a:rPr>
              <a:t>RAM: 8 GB</a:t>
            </a:r>
          </a:p>
          <a:p>
            <a:pPr algn="l" marL="768676" indent="-384338" lvl="1">
              <a:lnSpc>
                <a:spcPts val="4984"/>
              </a:lnSpc>
              <a:buFont typeface="Arial"/>
              <a:buChar char="•"/>
            </a:pPr>
            <a:r>
              <a:rPr lang="en-US" sz="3560">
                <a:solidFill>
                  <a:srgbClr val="6E4823"/>
                </a:solidFill>
                <a:latin typeface="Times New Roman"/>
                <a:ea typeface="Times New Roman"/>
                <a:cs typeface="Times New Roman"/>
                <a:sym typeface="Times New Roman"/>
              </a:rPr>
              <a:t>OS: Windows</a:t>
            </a:r>
          </a:p>
        </p:txBody>
      </p:sp>
      <p:sp>
        <p:nvSpPr>
          <p:cNvPr name="Freeform 4" id="4"/>
          <p:cNvSpPr/>
          <p:nvPr/>
        </p:nvSpPr>
        <p:spPr>
          <a:xfrm flipH="false" flipV="true" rot="5400000">
            <a:off x="13382135" y="-124826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5400000">
            <a:off x="133821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69662" y="10063142"/>
            <a:ext cx="18332860" cy="445690"/>
            <a:chOff x="0" y="0"/>
            <a:chExt cx="4828408" cy="117383"/>
          </a:xfrm>
        </p:grpSpPr>
        <p:sp>
          <p:nvSpPr>
            <p:cNvPr name="Freeform 7" id="7"/>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8" id="8"/>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69662" y="-221832"/>
            <a:ext cx="18332860" cy="445690"/>
            <a:chOff x="0" y="0"/>
            <a:chExt cx="4828408" cy="117383"/>
          </a:xfrm>
        </p:grpSpPr>
        <p:sp>
          <p:nvSpPr>
            <p:cNvPr name="Freeform 10" id="10"/>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11" id="11"/>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sp>
        <p:nvSpPr>
          <p:cNvPr name="AutoShape 12" id="12"/>
          <p:cNvSpPr/>
          <p:nvPr/>
        </p:nvSpPr>
        <p:spPr>
          <a:xfrm>
            <a:off x="3565735" y="1902422"/>
            <a:ext cx="11037768" cy="0"/>
          </a:xfrm>
          <a:prstGeom prst="line">
            <a:avLst/>
          </a:prstGeom>
          <a:ln cap="flat" w="38100">
            <a:solidFill>
              <a:srgbClr val="AA8C6A"/>
            </a:solidFill>
            <a:prstDash val="solid"/>
            <a:headEnd type="none" len="sm" w="sm"/>
            <a:tailEnd type="none" len="sm" w="sm"/>
          </a:ln>
        </p:spPr>
      </p:sp>
      <p:grpSp>
        <p:nvGrpSpPr>
          <p:cNvPr name="Group 13" id="13"/>
          <p:cNvGrpSpPr/>
          <p:nvPr/>
        </p:nvGrpSpPr>
        <p:grpSpPr>
          <a:xfrm rot="0">
            <a:off x="15496685" y="-2295812"/>
            <a:ext cx="1543050" cy="15297724"/>
            <a:chOff x="0" y="0"/>
            <a:chExt cx="406400" cy="4029030"/>
          </a:xfrm>
        </p:grpSpPr>
        <p:sp>
          <p:nvSpPr>
            <p:cNvPr name="Freeform 14" id="14"/>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15" id="15"/>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true" rot="-5400000">
            <a:off x="-24093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true" rot="5400000">
            <a:off x="-2409335" y="-1167282"/>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8" id="18"/>
          <p:cNvGrpSpPr/>
          <p:nvPr/>
        </p:nvGrpSpPr>
        <p:grpSpPr>
          <a:xfrm rot="0">
            <a:off x="1248265" y="-3074580"/>
            <a:ext cx="1543050" cy="15297724"/>
            <a:chOff x="0" y="0"/>
            <a:chExt cx="406400" cy="4029030"/>
          </a:xfrm>
        </p:grpSpPr>
        <p:sp>
          <p:nvSpPr>
            <p:cNvPr name="Freeform 19" id="19"/>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20" id="20"/>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
        <p:nvSpPr>
          <p:cNvPr name="TextBox 21" id="21"/>
          <p:cNvSpPr txBox="true"/>
          <p:nvPr/>
        </p:nvSpPr>
        <p:spPr>
          <a:xfrm rot="0">
            <a:off x="3685023" y="2282838"/>
            <a:ext cx="10623170" cy="1000954"/>
          </a:xfrm>
          <a:prstGeom prst="rect">
            <a:avLst/>
          </a:prstGeom>
        </p:spPr>
        <p:txBody>
          <a:bodyPr anchor="t" rtlCol="false" tIns="0" lIns="0" bIns="0" rIns="0">
            <a:spAutoFit/>
          </a:bodyPr>
          <a:lstStyle/>
          <a:p>
            <a:pPr algn="l">
              <a:lnSpc>
                <a:spcPts val="7302"/>
              </a:lnSpc>
              <a:spcBef>
                <a:spcPct val="0"/>
              </a:spcBef>
            </a:pPr>
            <a:r>
              <a:rPr lang="en-US" sz="5216">
                <a:solidFill>
                  <a:srgbClr val="6E4823"/>
                </a:solidFill>
                <a:latin typeface="Times New Roman"/>
                <a:ea typeface="Times New Roman"/>
                <a:cs typeface="Times New Roman"/>
                <a:sym typeface="Times New Roman"/>
              </a:rPr>
              <a:t>System Hardware:</a:t>
            </a:r>
          </a:p>
        </p:txBody>
      </p:sp>
      <p:sp>
        <p:nvSpPr>
          <p:cNvPr name="TextBox 22" id="22"/>
          <p:cNvSpPr txBox="true"/>
          <p:nvPr/>
        </p:nvSpPr>
        <p:spPr>
          <a:xfrm rot="0">
            <a:off x="3565735" y="6022032"/>
            <a:ext cx="6061109" cy="1000854"/>
          </a:xfrm>
          <a:prstGeom prst="rect">
            <a:avLst/>
          </a:prstGeom>
        </p:spPr>
        <p:txBody>
          <a:bodyPr anchor="t" rtlCol="false" tIns="0" lIns="0" bIns="0" rIns="0">
            <a:spAutoFit/>
          </a:bodyPr>
          <a:lstStyle/>
          <a:p>
            <a:pPr algn="ctr">
              <a:lnSpc>
                <a:spcPts val="7307"/>
              </a:lnSpc>
              <a:spcBef>
                <a:spcPct val="0"/>
              </a:spcBef>
            </a:pPr>
            <a:r>
              <a:rPr lang="en-US" sz="5220">
                <a:solidFill>
                  <a:srgbClr val="6E4823"/>
                </a:solidFill>
                <a:latin typeface="Times New Roman"/>
                <a:ea typeface="Times New Roman"/>
                <a:cs typeface="Times New Roman"/>
                <a:sym typeface="Times New Roman"/>
              </a:rPr>
              <a:t>Testing Environment:</a:t>
            </a:r>
          </a:p>
        </p:txBody>
      </p:sp>
      <p:sp>
        <p:nvSpPr>
          <p:cNvPr name="TextBox 23" id="23"/>
          <p:cNvSpPr txBox="true"/>
          <p:nvPr/>
        </p:nvSpPr>
        <p:spPr>
          <a:xfrm rot="0">
            <a:off x="3785183" y="7139352"/>
            <a:ext cx="10623170" cy="1300359"/>
          </a:xfrm>
          <a:prstGeom prst="rect">
            <a:avLst/>
          </a:prstGeom>
        </p:spPr>
        <p:txBody>
          <a:bodyPr anchor="t" rtlCol="false" tIns="0" lIns="0" bIns="0" rIns="0">
            <a:spAutoFit/>
          </a:bodyPr>
          <a:lstStyle/>
          <a:p>
            <a:pPr algn="l" marL="768601" indent="-384301" lvl="1">
              <a:lnSpc>
                <a:spcPts val="4983"/>
              </a:lnSpc>
              <a:buFont typeface="Arial"/>
              <a:buChar char="•"/>
            </a:pPr>
            <a:r>
              <a:rPr lang="en-US" sz="3559">
                <a:solidFill>
                  <a:srgbClr val="6E4823"/>
                </a:solidFill>
                <a:latin typeface="Times New Roman"/>
                <a:ea typeface="Times New Roman"/>
                <a:cs typeface="Times New Roman"/>
                <a:sym typeface="Times New Roman"/>
              </a:rPr>
              <a:t>Manual and functi</a:t>
            </a:r>
            <a:r>
              <a:rPr lang="en-US" sz="3559">
                <a:solidFill>
                  <a:srgbClr val="6E4823"/>
                </a:solidFill>
                <a:latin typeface="Times New Roman"/>
                <a:ea typeface="Times New Roman"/>
                <a:cs typeface="Times New Roman"/>
                <a:sym typeface="Times New Roman"/>
              </a:rPr>
              <a:t>onal testing performed on different browsers like Microsoft Edge, Chrome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2ED"/>
        </a:solidFill>
      </p:bgPr>
    </p:bg>
    <p:spTree>
      <p:nvGrpSpPr>
        <p:cNvPr id="1" name=""/>
        <p:cNvGrpSpPr/>
        <p:nvPr/>
      </p:nvGrpSpPr>
      <p:grpSpPr>
        <a:xfrm>
          <a:off x="0" y="0"/>
          <a:ext cx="0" cy="0"/>
          <a:chOff x="0" y="0"/>
          <a:chExt cx="0" cy="0"/>
        </a:xfrm>
      </p:grpSpPr>
      <p:sp>
        <p:nvSpPr>
          <p:cNvPr name="TextBox 2" id="2"/>
          <p:cNvSpPr txBox="true"/>
          <p:nvPr/>
        </p:nvSpPr>
        <p:spPr>
          <a:xfrm rot="0">
            <a:off x="0" y="533400"/>
            <a:ext cx="18263198" cy="1310864"/>
          </a:xfrm>
          <a:prstGeom prst="rect">
            <a:avLst/>
          </a:prstGeom>
        </p:spPr>
        <p:txBody>
          <a:bodyPr anchor="t" rtlCol="false" tIns="0" lIns="0" bIns="0" rIns="0">
            <a:spAutoFit/>
          </a:bodyPr>
          <a:lstStyle/>
          <a:p>
            <a:pPr algn="ctr">
              <a:lnSpc>
                <a:spcPts val="9649"/>
              </a:lnSpc>
            </a:pPr>
            <a:r>
              <a:rPr lang="en-US" b="true" sz="6892">
                <a:solidFill>
                  <a:srgbClr val="6E4823"/>
                </a:solidFill>
                <a:latin typeface="Times New Roman Bold"/>
                <a:ea typeface="Times New Roman Bold"/>
                <a:cs typeface="Times New Roman Bold"/>
                <a:sym typeface="Times New Roman Bold"/>
              </a:rPr>
              <a:t>FLOWCHART</a:t>
            </a:r>
          </a:p>
        </p:txBody>
      </p:sp>
      <p:sp>
        <p:nvSpPr>
          <p:cNvPr name="Freeform 3" id="3"/>
          <p:cNvSpPr/>
          <p:nvPr/>
        </p:nvSpPr>
        <p:spPr>
          <a:xfrm flipH="false" flipV="true" rot="5400000">
            <a:off x="13382135" y="-124826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5400000">
            <a:off x="133821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69662" y="10063142"/>
            <a:ext cx="18332860" cy="445690"/>
            <a:chOff x="0" y="0"/>
            <a:chExt cx="4828408" cy="117383"/>
          </a:xfrm>
        </p:grpSpPr>
        <p:sp>
          <p:nvSpPr>
            <p:cNvPr name="Freeform 6" id="6"/>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7" id="7"/>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69662" y="-221832"/>
            <a:ext cx="18332860" cy="445690"/>
            <a:chOff x="0" y="0"/>
            <a:chExt cx="4828408" cy="117383"/>
          </a:xfrm>
        </p:grpSpPr>
        <p:sp>
          <p:nvSpPr>
            <p:cNvPr name="Freeform 9" id="9"/>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10" id="10"/>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sp>
        <p:nvSpPr>
          <p:cNvPr name="AutoShape 11" id="11"/>
          <p:cNvSpPr/>
          <p:nvPr/>
        </p:nvSpPr>
        <p:spPr>
          <a:xfrm>
            <a:off x="5588564" y="1844264"/>
            <a:ext cx="6723184" cy="0"/>
          </a:xfrm>
          <a:prstGeom prst="line">
            <a:avLst/>
          </a:prstGeom>
          <a:ln cap="flat" w="38100">
            <a:solidFill>
              <a:srgbClr val="AA8C6A"/>
            </a:solidFill>
            <a:prstDash val="solid"/>
            <a:headEnd type="none" len="sm" w="sm"/>
            <a:tailEnd type="none" len="sm" w="sm"/>
          </a:ln>
        </p:spPr>
      </p:sp>
      <p:grpSp>
        <p:nvGrpSpPr>
          <p:cNvPr name="Group 12" id="12"/>
          <p:cNvGrpSpPr/>
          <p:nvPr/>
        </p:nvGrpSpPr>
        <p:grpSpPr>
          <a:xfrm rot="0">
            <a:off x="15496685" y="-2295812"/>
            <a:ext cx="1543050" cy="15297724"/>
            <a:chOff x="0" y="0"/>
            <a:chExt cx="406400" cy="4029030"/>
          </a:xfrm>
        </p:grpSpPr>
        <p:sp>
          <p:nvSpPr>
            <p:cNvPr name="Freeform 13" id="13"/>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14" id="14"/>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true" rot="-5400000">
            <a:off x="-24093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true" rot="5400000">
            <a:off x="-2409335" y="-1167282"/>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7" id="17"/>
          <p:cNvGrpSpPr/>
          <p:nvPr/>
        </p:nvGrpSpPr>
        <p:grpSpPr>
          <a:xfrm rot="0">
            <a:off x="1248265" y="-3074580"/>
            <a:ext cx="1543050" cy="15297724"/>
            <a:chOff x="0" y="0"/>
            <a:chExt cx="406400" cy="4029030"/>
          </a:xfrm>
        </p:grpSpPr>
        <p:sp>
          <p:nvSpPr>
            <p:cNvPr name="Freeform 18" id="18"/>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19" id="19"/>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9202309" y="2286204"/>
            <a:ext cx="7065901" cy="7373098"/>
          </a:xfrm>
          <a:custGeom>
            <a:avLst/>
            <a:gdLst/>
            <a:ahLst/>
            <a:cxnLst/>
            <a:rect r="r" b="b" t="t" l="l"/>
            <a:pathLst>
              <a:path h="7373098" w="7065901">
                <a:moveTo>
                  <a:pt x="0" y="0"/>
                </a:moveTo>
                <a:lnTo>
                  <a:pt x="7065901" y="0"/>
                </a:lnTo>
                <a:lnTo>
                  <a:pt x="7065901" y="7373098"/>
                </a:lnTo>
                <a:lnTo>
                  <a:pt x="0" y="7373098"/>
                </a:lnTo>
                <a:lnTo>
                  <a:pt x="0" y="0"/>
                </a:lnTo>
                <a:close/>
              </a:path>
            </a:pathLst>
          </a:custGeom>
          <a:blipFill>
            <a:blip r:embed="rId4"/>
            <a:stretch>
              <a:fillRect l="0" t="-3465" r="0" b="-8928"/>
            </a:stretch>
          </a:blipFill>
        </p:spPr>
      </p:sp>
      <p:sp>
        <p:nvSpPr>
          <p:cNvPr name="TextBox 21" id="21"/>
          <p:cNvSpPr txBox="true"/>
          <p:nvPr/>
        </p:nvSpPr>
        <p:spPr>
          <a:xfrm rot="0">
            <a:off x="1752907" y="2076654"/>
            <a:ext cx="6552438" cy="1000854"/>
          </a:xfrm>
          <a:prstGeom prst="rect">
            <a:avLst/>
          </a:prstGeom>
        </p:spPr>
        <p:txBody>
          <a:bodyPr anchor="t" rtlCol="false" tIns="0" lIns="0" bIns="0" rIns="0">
            <a:spAutoFit/>
          </a:bodyPr>
          <a:lstStyle/>
          <a:p>
            <a:pPr algn="ctr">
              <a:lnSpc>
                <a:spcPts val="7307"/>
              </a:lnSpc>
              <a:spcBef>
                <a:spcPct val="0"/>
              </a:spcBef>
            </a:pPr>
            <a:r>
              <a:rPr lang="en-US" sz="5220">
                <a:solidFill>
                  <a:srgbClr val="6E4823"/>
                </a:solidFill>
                <a:latin typeface="Times New Roman"/>
                <a:ea typeface="Times New Roman"/>
                <a:cs typeface="Times New Roman"/>
                <a:sym typeface="Times New Roman"/>
              </a:rPr>
              <a:t>Authentication Flow:</a:t>
            </a:r>
          </a:p>
        </p:txBody>
      </p:sp>
      <p:sp>
        <p:nvSpPr>
          <p:cNvPr name="TextBox 22" id="22"/>
          <p:cNvSpPr txBox="true"/>
          <p:nvPr/>
        </p:nvSpPr>
        <p:spPr>
          <a:xfrm rot="0">
            <a:off x="2019790" y="3198635"/>
            <a:ext cx="6552438" cy="4443939"/>
          </a:xfrm>
          <a:prstGeom prst="rect">
            <a:avLst/>
          </a:prstGeom>
        </p:spPr>
        <p:txBody>
          <a:bodyPr anchor="t" rtlCol="false" tIns="0" lIns="0" bIns="0" rIns="0">
            <a:spAutoFit/>
          </a:bodyPr>
          <a:lstStyle/>
          <a:p>
            <a:pPr algn="l" marL="768605" indent="-384302" lvl="1">
              <a:lnSpc>
                <a:spcPts val="4984"/>
              </a:lnSpc>
              <a:buFont typeface="Arial"/>
              <a:buChar char="•"/>
            </a:pPr>
            <a:r>
              <a:rPr lang="en-US" sz="3560">
                <a:solidFill>
                  <a:srgbClr val="6E4823"/>
                </a:solidFill>
                <a:latin typeface="Times New Roman"/>
                <a:ea typeface="Times New Roman"/>
                <a:cs typeface="Times New Roman"/>
                <a:sym typeface="Times New Roman"/>
              </a:rPr>
              <a:t>Login Page Initiation</a:t>
            </a:r>
          </a:p>
          <a:p>
            <a:pPr algn="l" marL="768605" indent="-384302" lvl="1">
              <a:lnSpc>
                <a:spcPts val="4984"/>
              </a:lnSpc>
              <a:buFont typeface="Arial"/>
              <a:buChar char="•"/>
            </a:pPr>
            <a:r>
              <a:rPr lang="en-US" sz="3560">
                <a:solidFill>
                  <a:srgbClr val="6E4823"/>
                </a:solidFill>
                <a:latin typeface="Times New Roman"/>
                <a:ea typeface="Times New Roman"/>
                <a:cs typeface="Times New Roman"/>
                <a:sym typeface="Times New Roman"/>
              </a:rPr>
              <a:t>Email Input</a:t>
            </a:r>
          </a:p>
          <a:p>
            <a:pPr algn="l" marL="768605" indent="-384302" lvl="1">
              <a:lnSpc>
                <a:spcPts val="4984"/>
              </a:lnSpc>
              <a:buFont typeface="Arial"/>
              <a:buChar char="•"/>
            </a:pPr>
            <a:r>
              <a:rPr lang="en-US" sz="3560">
                <a:solidFill>
                  <a:srgbClr val="6E4823"/>
                </a:solidFill>
                <a:latin typeface="Times New Roman"/>
                <a:ea typeface="Times New Roman"/>
                <a:cs typeface="Times New Roman"/>
                <a:sym typeface="Times New Roman"/>
              </a:rPr>
              <a:t>Email Validation</a:t>
            </a:r>
          </a:p>
          <a:p>
            <a:pPr algn="l" marL="768605" indent="-384302" lvl="1">
              <a:lnSpc>
                <a:spcPts val="4984"/>
              </a:lnSpc>
              <a:buFont typeface="Arial"/>
              <a:buChar char="•"/>
            </a:pPr>
            <a:r>
              <a:rPr lang="en-US" sz="3560">
                <a:solidFill>
                  <a:srgbClr val="6E4823"/>
                </a:solidFill>
                <a:latin typeface="Times New Roman"/>
                <a:ea typeface="Times New Roman"/>
                <a:cs typeface="Times New Roman"/>
                <a:sym typeface="Times New Roman"/>
              </a:rPr>
              <a:t>Phone Number Validation</a:t>
            </a:r>
          </a:p>
          <a:p>
            <a:pPr algn="l" marL="768605" indent="-384302" lvl="1">
              <a:lnSpc>
                <a:spcPts val="4984"/>
              </a:lnSpc>
              <a:buFont typeface="Arial"/>
              <a:buChar char="•"/>
            </a:pPr>
            <a:r>
              <a:rPr lang="en-US" sz="3560">
                <a:solidFill>
                  <a:srgbClr val="6E4823"/>
                </a:solidFill>
                <a:latin typeface="Times New Roman"/>
                <a:ea typeface="Times New Roman"/>
                <a:cs typeface="Times New Roman"/>
                <a:sym typeface="Times New Roman"/>
              </a:rPr>
              <a:t>OTP Verification</a:t>
            </a:r>
          </a:p>
          <a:p>
            <a:pPr algn="l" marL="768605" indent="-384302" lvl="1">
              <a:lnSpc>
                <a:spcPts val="4984"/>
              </a:lnSpc>
              <a:buFont typeface="Arial"/>
              <a:buChar char="•"/>
            </a:pPr>
            <a:r>
              <a:rPr lang="en-US" sz="3560">
                <a:solidFill>
                  <a:srgbClr val="6E4823"/>
                </a:solidFill>
                <a:latin typeface="Times New Roman"/>
                <a:ea typeface="Times New Roman"/>
                <a:cs typeface="Times New Roman"/>
                <a:sym typeface="Times New Roman"/>
              </a:rPr>
              <a:t>User Role Check</a:t>
            </a:r>
          </a:p>
          <a:p>
            <a:pPr algn="l" marL="768605" indent="-384302" lvl="1">
              <a:lnSpc>
                <a:spcPts val="4984"/>
              </a:lnSpc>
              <a:buFont typeface="Arial"/>
              <a:buChar char="•"/>
            </a:pPr>
            <a:r>
              <a:rPr lang="en-US" sz="3560">
                <a:solidFill>
                  <a:srgbClr val="6E4823"/>
                </a:solidFill>
                <a:latin typeface="Times New Roman"/>
                <a:ea typeface="Times New Roman"/>
                <a:cs typeface="Times New Roman"/>
                <a:sym typeface="Times New Roman"/>
              </a:rPr>
              <a:t>Redirect Based on Role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2ED"/>
        </a:solidFill>
      </p:bgPr>
    </p:bg>
    <p:spTree>
      <p:nvGrpSpPr>
        <p:cNvPr id="1" name=""/>
        <p:cNvGrpSpPr/>
        <p:nvPr/>
      </p:nvGrpSpPr>
      <p:grpSpPr>
        <a:xfrm>
          <a:off x="0" y="0"/>
          <a:ext cx="0" cy="0"/>
          <a:chOff x="0" y="0"/>
          <a:chExt cx="0" cy="0"/>
        </a:xfrm>
      </p:grpSpPr>
      <p:sp>
        <p:nvSpPr>
          <p:cNvPr name="Freeform 2" id="2"/>
          <p:cNvSpPr/>
          <p:nvPr/>
        </p:nvSpPr>
        <p:spPr>
          <a:xfrm flipH="false" flipV="true" rot="5400000">
            <a:off x="13382135" y="-124826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5400000">
            <a:off x="133821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69662" y="10063142"/>
            <a:ext cx="18332860" cy="445690"/>
            <a:chOff x="0" y="0"/>
            <a:chExt cx="4828408" cy="117383"/>
          </a:xfrm>
        </p:grpSpPr>
        <p:sp>
          <p:nvSpPr>
            <p:cNvPr name="Freeform 5" id="5"/>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6" id="6"/>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69662" y="-221832"/>
            <a:ext cx="18332860" cy="445690"/>
            <a:chOff x="0" y="0"/>
            <a:chExt cx="4828408" cy="117383"/>
          </a:xfrm>
        </p:grpSpPr>
        <p:sp>
          <p:nvSpPr>
            <p:cNvPr name="Freeform 8" id="8"/>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9" id="9"/>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5496685" y="-2295812"/>
            <a:ext cx="1543050" cy="15297724"/>
            <a:chOff x="0" y="0"/>
            <a:chExt cx="406400" cy="4029030"/>
          </a:xfrm>
        </p:grpSpPr>
        <p:sp>
          <p:nvSpPr>
            <p:cNvPr name="Freeform 11" id="11"/>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12" id="12"/>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true" rot="-5400000">
            <a:off x="-24093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true" rot="5400000">
            <a:off x="-2409335" y="-1167282"/>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5" id="15"/>
          <p:cNvGrpSpPr/>
          <p:nvPr/>
        </p:nvGrpSpPr>
        <p:grpSpPr>
          <a:xfrm rot="0">
            <a:off x="1248265" y="-3074580"/>
            <a:ext cx="1543050" cy="15297724"/>
            <a:chOff x="0" y="0"/>
            <a:chExt cx="406400" cy="4029030"/>
          </a:xfrm>
        </p:grpSpPr>
        <p:sp>
          <p:nvSpPr>
            <p:cNvPr name="Freeform 16" id="16"/>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17" id="17"/>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2019790" y="1521970"/>
            <a:ext cx="8553446" cy="5978369"/>
          </a:xfrm>
          <a:custGeom>
            <a:avLst/>
            <a:gdLst/>
            <a:ahLst/>
            <a:cxnLst/>
            <a:rect r="r" b="b" t="t" l="l"/>
            <a:pathLst>
              <a:path h="5978369" w="8553446">
                <a:moveTo>
                  <a:pt x="0" y="0"/>
                </a:moveTo>
                <a:lnTo>
                  <a:pt x="8553446" y="0"/>
                </a:lnTo>
                <a:lnTo>
                  <a:pt x="8553446" y="5978369"/>
                </a:lnTo>
                <a:lnTo>
                  <a:pt x="0" y="5978369"/>
                </a:lnTo>
                <a:lnTo>
                  <a:pt x="0" y="0"/>
                </a:lnTo>
                <a:close/>
              </a:path>
            </a:pathLst>
          </a:custGeom>
          <a:blipFill>
            <a:blip r:embed="rId4"/>
            <a:stretch>
              <a:fillRect l="0" t="-5916" r="0" b="-6440"/>
            </a:stretch>
          </a:blipFill>
        </p:spPr>
      </p:sp>
      <p:sp>
        <p:nvSpPr>
          <p:cNvPr name="Freeform 19" id="19"/>
          <p:cNvSpPr/>
          <p:nvPr/>
        </p:nvSpPr>
        <p:spPr>
          <a:xfrm flipH="false" flipV="false" rot="0">
            <a:off x="11022288" y="1521970"/>
            <a:ext cx="5245922" cy="5978369"/>
          </a:xfrm>
          <a:custGeom>
            <a:avLst/>
            <a:gdLst/>
            <a:ahLst/>
            <a:cxnLst/>
            <a:rect r="r" b="b" t="t" l="l"/>
            <a:pathLst>
              <a:path h="5978369" w="5245922">
                <a:moveTo>
                  <a:pt x="0" y="0"/>
                </a:moveTo>
                <a:lnTo>
                  <a:pt x="5245922" y="0"/>
                </a:lnTo>
                <a:lnTo>
                  <a:pt x="5245922" y="5978369"/>
                </a:lnTo>
                <a:lnTo>
                  <a:pt x="0" y="5978369"/>
                </a:lnTo>
                <a:lnTo>
                  <a:pt x="0" y="0"/>
                </a:lnTo>
                <a:close/>
              </a:path>
            </a:pathLst>
          </a:custGeom>
          <a:blipFill>
            <a:blip r:embed="rId5"/>
            <a:stretch>
              <a:fillRect l="-2126" t="0" r="-2126" b="0"/>
            </a:stretch>
          </a:blipFill>
        </p:spPr>
      </p:sp>
      <p:sp>
        <p:nvSpPr>
          <p:cNvPr name="TextBox 20" id="20"/>
          <p:cNvSpPr txBox="true"/>
          <p:nvPr/>
        </p:nvSpPr>
        <p:spPr>
          <a:xfrm rot="0">
            <a:off x="2019790" y="7613933"/>
            <a:ext cx="14248420" cy="1955320"/>
          </a:xfrm>
          <a:prstGeom prst="rect">
            <a:avLst/>
          </a:prstGeom>
        </p:spPr>
        <p:txBody>
          <a:bodyPr anchor="t" rtlCol="false" tIns="0" lIns="0" bIns="0" rIns="0">
            <a:spAutoFit/>
          </a:bodyPr>
          <a:lstStyle/>
          <a:p>
            <a:pPr algn="just" marL="785875" indent="-392938" lvl="1">
              <a:lnSpc>
                <a:spcPts val="5095"/>
              </a:lnSpc>
              <a:buFont typeface="Arial"/>
              <a:buChar char="•"/>
            </a:pPr>
            <a:r>
              <a:rPr lang="en-US" sz="3639">
                <a:solidFill>
                  <a:srgbClr val="6E4823"/>
                </a:solidFill>
                <a:latin typeface="Times New Roman"/>
                <a:ea typeface="Times New Roman"/>
                <a:cs typeface="Times New Roman"/>
                <a:sym typeface="Times New Roman"/>
              </a:rPr>
              <a:t>Super admin can view and manage the users, students and organizations</a:t>
            </a:r>
          </a:p>
          <a:p>
            <a:pPr algn="just" marL="785875" indent="-392938" lvl="1">
              <a:lnSpc>
                <a:spcPts val="5095"/>
              </a:lnSpc>
              <a:buFont typeface="Arial"/>
              <a:buChar char="•"/>
            </a:pPr>
            <a:r>
              <a:rPr lang="en-US" sz="3639">
                <a:solidFill>
                  <a:srgbClr val="6E4823"/>
                </a:solidFill>
                <a:latin typeface="Times New Roman"/>
                <a:ea typeface="Times New Roman"/>
                <a:cs typeface="Times New Roman"/>
                <a:sym typeface="Times New Roman"/>
              </a:rPr>
              <a:t>Admin can view and manage the students in their organization</a:t>
            </a:r>
          </a:p>
        </p:txBody>
      </p:sp>
      <p:sp>
        <p:nvSpPr>
          <p:cNvPr name="TextBox 21" id="21"/>
          <p:cNvSpPr txBox="true"/>
          <p:nvPr/>
        </p:nvSpPr>
        <p:spPr>
          <a:xfrm rot="0">
            <a:off x="0" y="274171"/>
            <a:ext cx="18263198" cy="1000854"/>
          </a:xfrm>
          <a:prstGeom prst="rect">
            <a:avLst/>
          </a:prstGeom>
        </p:spPr>
        <p:txBody>
          <a:bodyPr anchor="t" rtlCol="false" tIns="0" lIns="0" bIns="0" rIns="0">
            <a:spAutoFit/>
          </a:bodyPr>
          <a:lstStyle/>
          <a:p>
            <a:pPr algn="ctr">
              <a:lnSpc>
                <a:spcPts val="7307"/>
              </a:lnSpc>
              <a:spcBef>
                <a:spcPct val="0"/>
              </a:spcBef>
            </a:pPr>
            <a:r>
              <a:rPr lang="en-US" b="true" sz="5220">
                <a:solidFill>
                  <a:srgbClr val="6E4823"/>
                </a:solidFill>
                <a:latin typeface="Times New Roman Bold"/>
                <a:ea typeface="Times New Roman Bold"/>
                <a:cs typeface="Times New Roman Bold"/>
                <a:sym typeface="Times New Roman Bold"/>
              </a:rPr>
              <a:t>SUPER ADMIN AND ADMIN FLOW</a:t>
            </a:r>
          </a:p>
        </p:txBody>
      </p:sp>
      <p:sp>
        <p:nvSpPr>
          <p:cNvPr name="AutoShape 22" id="22"/>
          <p:cNvSpPr/>
          <p:nvPr/>
        </p:nvSpPr>
        <p:spPr>
          <a:xfrm flipV="true">
            <a:off x="2791315" y="1275025"/>
            <a:ext cx="12633165" cy="0"/>
          </a:xfrm>
          <a:prstGeom prst="line">
            <a:avLst/>
          </a:prstGeom>
          <a:ln cap="flat" w="38100">
            <a:solidFill>
              <a:srgbClr val="AA8C6A"/>
            </a:solidFill>
            <a:prstDash val="solid"/>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2ED"/>
        </a:solidFill>
      </p:bgPr>
    </p:bg>
    <p:spTree>
      <p:nvGrpSpPr>
        <p:cNvPr id="1" name=""/>
        <p:cNvGrpSpPr/>
        <p:nvPr/>
      </p:nvGrpSpPr>
      <p:grpSpPr>
        <a:xfrm>
          <a:off x="0" y="0"/>
          <a:ext cx="0" cy="0"/>
          <a:chOff x="0" y="0"/>
          <a:chExt cx="0" cy="0"/>
        </a:xfrm>
      </p:grpSpPr>
      <p:sp>
        <p:nvSpPr>
          <p:cNvPr name="TextBox 2" id="2"/>
          <p:cNvSpPr txBox="true"/>
          <p:nvPr/>
        </p:nvSpPr>
        <p:spPr>
          <a:xfrm rot="0">
            <a:off x="24802" y="239886"/>
            <a:ext cx="18263198" cy="1310927"/>
          </a:xfrm>
          <a:prstGeom prst="rect">
            <a:avLst/>
          </a:prstGeom>
        </p:spPr>
        <p:txBody>
          <a:bodyPr anchor="t" rtlCol="false" tIns="0" lIns="0" bIns="0" rIns="0">
            <a:spAutoFit/>
          </a:bodyPr>
          <a:lstStyle/>
          <a:p>
            <a:pPr algn="ctr">
              <a:lnSpc>
                <a:spcPts val="9646"/>
              </a:lnSpc>
            </a:pPr>
            <a:r>
              <a:rPr lang="en-US" b="true" sz="6890">
                <a:solidFill>
                  <a:srgbClr val="6E4823"/>
                </a:solidFill>
                <a:latin typeface="Times New Roman Bold"/>
                <a:ea typeface="Times New Roman Bold"/>
                <a:cs typeface="Times New Roman Bold"/>
                <a:sym typeface="Times New Roman Bold"/>
              </a:rPr>
              <a:t>STUDENT WORKFLOW</a:t>
            </a:r>
          </a:p>
        </p:txBody>
      </p:sp>
      <p:sp>
        <p:nvSpPr>
          <p:cNvPr name="Freeform 3" id="3"/>
          <p:cNvSpPr/>
          <p:nvPr/>
        </p:nvSpPr>
        <p:spPr>
          <a:xfrm flipH="false" flipV="true" rot="5400000">
            <a:off x="13382135" y="-124826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5400000">
            <a:off x="133821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69662" y="10063142"/>
            <a:ext cx="18332860" cy="445690"/>
            <a:chOff x="0" y="0"/>
            <a:chExt cx="4828408" cy="117383"/>
          </a:xfrm>
        </p:grpSpPr>
        <p:sp>
          <p:nvSpPr>
            <p:cNvPr name="Freeform 6" id="6"/>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7" id="7"/>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69662" y="-221832"/>
            <a:ext cx="18332860" cy="445690"/>
            <a:chOff x="0" y="0"/>
            <a:chExt cx="4828408" cy="117383"/>
          </a:xfrm>
        </p:grpSpPr>
        <p:sp>
          <p:nvSpPr>
            <p:cNvPr name="Freeform 9" id="9"/>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10" id="10"/>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sp>
        <p:nvSpPr>
          <p:cNvPr name="AutoShape 11" id="11"/>
          <p:cNvSpPr/>
          <p:nvPr/>
        </p:nvSpPr>
        <p:spPr>
          <a:xfrm>
            <a:off x="3598363" y="1550814"/>
            <a:ext cx="11086352" cy="19050"/>
          </a:xfrm>
          <a:prstGeom prst="line">
            <a:avLst/>
          </a:prstGeom>
          <a:ln cap="flat" w="38100">
            <a:solidFill>
              <a:srgbClr val="AA8C6A"/>
            </a:solidFill>
            <a:prstDash val="solid"/>
            <a:headEnd type="none" len="sm" w="sm"/>
            <a:tailEnd type="none" len="sm" w="sm"/>
          </a:ln>
        </p:spPr>
      </p:sp>
      <p:grpSp>
        <p:nvGrpSpPr>
          <p:cNvPr name="Group 12" id="12"/>
          <p:cNvGrpSpPr/>
          <p:nvPr/>
        </p:nvGrpSpPr>
        <p:grpSpPr>
          <a:xfrm rot="0">
            <a:off x="15496685" y="-2295812"/>
            <a:ext cx="1543050" cy="15297724"/>
            <a:chOff x="0" y="0"/>
            <a:chExt cx="406400" cy="4029030"/>
          </a:xfrm>
        </p:grpSpPr>
        <p:sp>
          <p:nvSpPr>
            <p:cNvPr name="Freeform 13" id="13"/>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14" id="14"/>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true" rot="-5400000">
            <a:off x="-24093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true" rot="5400000">
            <a:off x="-2409335" y="-1167282"/>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7" id="17"/>
          <p:cNvGrpSpPr/>
          <p:nvPr/>
        </p:nvGrpSpPr>
        <p:grpSpPr>
          <a:xfrm rot="0">
            <a:off x="1248265" y="-3074580"/>
            <a:ext cx="1543050" cy="15297724"/>
            <a:chOff x="0" y="0"/>
            <a:chExt cx="406400" cy="4029030"/>
          </a:xfrm>
        </p:grpSpPr>
        <p:sp>
          <p:nvSpPr>
            <p:cNvPr name="Freeform 18" id="18"/>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19" id="19"/>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7185574" y="2177222"/>
            <a:ext cx="9678686" cy="6595210"/>
          </a:xfrm>
          <a:custGeom>
            <a:avLst/>
            <a:gdLst/>
            <a:ahLst/>
            <a:cxnLst/>
            <a:rect r="r" b="b" t="t" l="l"/>
            <a:pathLst>
              <a:path h="6595210" w="9678686">
                <a:moveTo>
                  <a:pt x="0" y="0"/>
                </a:moveTo>
                <a:lnTo>
                  <a:pt x="9678686" y="0"/>
                </a:lnTo>
                <a:lnTo>
                  <a:pt x="9678686" y="6595211"/>
                </a:lnTo>
                <a:lnTo>
                  <a:pt x="0" y="6595211"/>
                </a:lnTo>
                <a:lnTo>
                  <a:pt x="0" y="0"/>
                </a:lnTo>
                <a:close/>
              </a:path>
            </a:pathLst>
          </a:custGeom>
          <a:blipFill>
            <a:blip r:embed="rId4"/>
            <a:stretch>
              <a:fillRect l="0" t="0" r="0" b="0"/>
            </a:stretch>
          </a:blipFill>
        </p:spPr>
      </p:sp>
      <p:sp>
        <p:nvSpPr>
          <p:cNvPr name="TextBox 21" id="21"/>
          <p:cNvSpPr txBox="true"/>
          <p:nvPr/>
        </p:nvSpPr>
        <p:spPr>
          <a:xfrm rot="0">
            <a:off x="1248265" y="2982214"/>
            <a:ext cx="5937309" cy="3647186"/>
          </a:xfrm>
          <a:prstGeom prst="rect">
            <a:avLst/>
          </a:prstGeom>
        </p:spPr>
        <p:txBody>
          <a:bodyPr anchor="t" rtlCol="false" tIns="0" lIns="0" bIns="0" rIns="0">
            <a:spAutoFit/>
          </a:bodyPr>
          <a:lstStyle/>
          <a:p>
            <a:pPr algn="l" marL="768605" indent="-384302" lvl="1">
              <a:lnSpc>
                <a:spcPts val="4984"/>
              </a:lnSpc>
              <a:buFont typeface="Arial"/>
              <a:buChar char="•"/>
            </a:pPr>
            <a:r>
              <a:rPr lang="en-US" sz="3560">
                <a:solidFill>
                  <a:srgbClr val="6E4823"/>
                </a:solidFill>
                <a:latin typeface="Times New Roman"/>
                <a:ea typeface="Times New Roman"/>
                <a:cs typeface="Times New Roman"/>
                <a:sym typeface="Times New Roman"/>
              </a:rPr>
              <a:t>P</a:t>
            </a:r>
            <a:r>
              <a:rPr lang="en-US" sz="3560">
                <a:solidFill>
                  <a:srgbClr val="6E4823"/>
                </a:solidFill>
                <a:latin typeface="Times New Roman"/>
                <a:ea typeface="Times New Roman"/>
                <a:cs typeface="Times New Roman"/>
                <a:sym typeface="Times New Roman"/>
              </a:rPr>
              <a:t>rofile Check</a:t>
            </a:r>
          </a:p>
          <a:p>
            <a:pPr algn="l" marL="768605" indent="-384302" lvl="1">
              <a:lnSpc>
                <a:spcPts val="4984"/>
              </a:lnSpc>
              <a:buFont typeface="Arial"/>
              <a:buChar char="•"/>
            </a:pPr>
            <a:r>
              <a:rPr lang="en-US" sz="3560">
                <a:solidFill>
                  <a:srgbClr val="6E4823"/>
                </a:solidFill>
                <a:latin typeface="Times New Roman"/>
                <a:ea typeface="Times New Roman"/>
                <a:cs typeface="Times New Roman"/>
                <a:sym typeface="Times New Roman"/>
              </a:rPr>
              <a:t>Check Service Permissions</a:t>
            </a:r>
          </a:p>
          <a:p>
            <a:pPr algn="l" marL="768605" indent="-384302" lvl="1">
              <a:lnSpc>
                <a:spcPts val="4984"/>
              </a:lnSpc>
              <a:buFont typeface="Arial"/>
              <a:buChar char="•"/>
            </a:pPr>
            <a:r>
              <a:rPr lang="en-US" sz="3560">
                <a:solidFill>
                  <a:srgbClr val="6E4823"/>
                </a:solidFill>
                <a:latin typeface="Times New Roman"/>
                <a:ea typeface="Times New Roman"/>
                <a:cs typeface="Times New Roman"/>
                <a:sym typeface="Times New Roman"/>
              </a:rPr>
              <a:t>Available Services</a:t>
            </a:r>
          </a:p>
          <a:p>
            <a:pPr algn="l">
              <a:lnSpc>
                <a:spcPts val="4564"/>
              </a:lnSpc>
            </a:pPr>
            <a:r>
              <a:rPr lang="en-US" sz="3260">
                <a:solidFill>
                  <a:srgbClr val="6E4823"/>
                </a:solidFill>
                <a:latin typeface="Times New Roman"/>
                <a:ea typeface="Times New Roman"/>
                <a:cs typeface="Times New Roman"/>
                <a:sym typeface="Times New Roman"/>
              </a:rPr>
              <a:t>         Career Accelerator</a:t>
            </a:r>
          </a:p>
          <a:p>
            <a:pPr algn="l">
              <a:lnSpc>
                <a:spcPts val="4564"/>
              </a:lnSpc>
            </a:pPr>
            <a:r>
              <a:rPr lang="en-US" sz="3260">
                <a:solidFill>
                  <a:srgbClr val="6E4823"/>
                </a:solidFill>
                <a:latin typeface="Times New Roman"/>
                <a:ea typeface="Times New Roman"/>
                <a:cs typeface="Times New Roman"/>
                <a:sym typeface="Times New Roman"/>
              </a:rPr>
              <a:t>         SOP</a:t>
            </a:r>
          </a:p>
          <a:p>
            <a:pPr algn="l">
              <a:lnSpc>
                <a:spcPts val="4564"/>
              </a:lnSpc>
            </a:pPr>
            <a:r>
              <a:rPr lang="en-US" sz="3260">
                <a:solidFill>
                  <a:srgbClr val="6E4823"/>
                </a:solidFill>
                <a:latin typeface="Times New Roman"/>
                <a:ea typeface="Times New Roman"/>
                <a:cs typeface="Times New Roman"/>
                <a:sym typeface="Times New Roman"/>
              </a:rPr>
              <a:t>         SoftSkillX</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2ED"/>
        </a:solidFill>
      </p:bgPr>
    </p:bg>
    <p:spTree>
      <p:nvGrpSpPr>
        <p:cNvPr id="1" name=""/>
        <p:cNvGrpSpPr/>
        <p:nvPr/>
      </p:nvGrpSpPr>
      <p:grpSpPr>
        <a:xfrm>
          <a:off x="0" y="0"/>
          <a:ext cx="0" cy="0"/>
          <a:chOff x="0" y="0"/>
          <a:chExt cx="0" cy="0"/>
        </a:xfrm>
      </p:grpSpPr>
      <p:sp>
        <p:nvSpPr>
          <p:cNvPr name="TextBox 2" id="2"/>
          <p:cNvSpPr txBox="true"/>
          <p:nvPr/>
        </p:nvSpPr>
        <p:spPr>
          <a:xfrm rot="0">
            <a:off x="4875411" y="361496"/>
            <a:ext cx="8537178" cy="949514"/>
          </a:xfrm>
          <a:prstGeom prst="rect">
            <a:avLst/>
          </a:prstGeom>
        </p:spPr>
        <p:txBody>
          <a:bodyPr anchor="t" rtlCol="false" tIns="0" lIns="0" bIns="0" rIns="0">
            <a:spAutoFit/>
          </a:bodyPr>
          <a:lstStyle/>
          <a:p>
            <a:pPr algn="ctr">
              <a:lnSpc>
                <a:spcPts val="6989"/>
              </a:lnSpc>
            </a:pPr>
            <a:r>
              <a:rPr lang="en-US" b="true" sz="4992">
                <a:solidFill>
                  <a:srgbClr val="6E4823"/>
                </a:solidFill>
                <a:latin typeface="Times New Roman Bold"/>
                <a:ea typeface="Times New Roman Bold"/>
                <a:cs typeface="Times New Roman Bold"/>
                <a:sym typeface="Times New Roman Bold"/>
              </a:rPr>
              <a:t>RESULTS</a:t>
            </a:r>
          </a:p>
        </p:txBody>
      </p:sp>
      <p:sp>
        <p:nvSpPr>
          <p:cNvPr name="Freeform 3" id="3"/>
          <p:cNvSpPr/>
          <p:nvPr/>
        </p:nvSpPr>
        <p:spPr>
          <a:xfrm flipH="false" flipV="true" rot="5400000">
            <a:off x="13382135" y="-124826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5400000">
            <a:off x="133821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69662" y="10063142"/>
            <a:ext cx="18332860" cy="445690"/>
            <a:chOff x="0" y="0"/>
            <a:chExt cx="4828408" cy="117383"/>
          </a:xfrm>
        </p:grpSpPr>
        <p:sp>
          <p:nvSpPr>
            <p:cNvPr name="Freeform 6" id="6"/>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7" id="7"/>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69662" y="-221832"/>
            <a:ext cx="18332860" cy="445690"/>
            <a:chOff x="0" y="0"/>
            <a:chExt cx="4828408" cy="117383"/>
          </a:xfrm>
        </p:grpSpPr>
        <p:sp>
          <p:nvSpPr>
            <p:cNvPr name="Freeform 9" id="9"/>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10" id="10"/>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sp>
        <p:nvSpPr>
          <p:cNvPr name="AutoShape 11" id="11"/>
          <p:cNvSpPr/>
          <p:nvPr/>
        </p:nvSpPr>
        <p:spPr>
          <a:xfrm>
            <a:off x="7464698" y="1237879"/>
            <a:ext cx="3505059" cy="73131"/>
          </a:xfrm>
          <a:prstGeom prst="line">
            <a:avLst/>
          </a:prstGeom>
          <a:ln cap="flat" w="38100">
            <a:solidFill>
              <a:srgbClr val="AA8C6A"/>
            </a:solidFill>
            <a:prstDash val="solid"/>
            <a:headEnd type="none" len="sm" w="sm"/>
            <a:tailEnd type="none" len="sm" w="sm"/>
          </a:ln>
        </p:spPr>
      </p:sp>
      <p:grpSp>
        <p:nvGrpSpPr>
          <p:cNvPr name="Group 12" id="12"/>
          <p:cNvGrpSpPr/>
          <p:nvPr/>
        </p:nvGrpSpPr>
        <p:grpSpPr>
          <a:xfrm rot="0">
            <a:off x="15496685" y="-2295812"/>
            <a:ext cx="1543050" cy="15297724"/>
            <a:chOff x="0" y="0"/>
            <a:chExt cx="406400" cy="4029030"/>
          </a:xfrm>
        </p:grpSpPr>
        <p:sp>
          <p:nvSpPr>
            <p:cNvPr name="Freeform 13" id="13"/>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14" id="14"/>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true" rot="-5400000">
            <a:off x="-24093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true" rot="5400000">
            <a:off x="-2409335" y="-1167282"/>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7" id="17"/>
          <p:cNvGrpSpPr/>
          <p:nvPr/>
        </p:nvGrpSpPr>
        <p:grpSpPr>
          <a:xfrm rot="0">
            <a:off x="1248265" y="-3074580"/>
            <a:ext cx="1543050" cy="15297724"/>
            <a:chOff x="0" y="0"/>
            <a:chExt cx="406400" cy="4029030"/>
          </a:xfrm>
        </p:grpSpPr>
        <p:sp>
          <p:nvSpPr>
            <p:cNvPr name="Freeform 18" id="18"/>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19" id="19"/>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684751" y="2880852"/>
            <a:ext cx="7412017" cy="4452975"/>
          </a:xfrm>
          <a:custGeom>
            <a:avLst/>
            <a:gdLst/>
            <a:ahLst/>
            <a:cxnLst/>
            <a:rect r="r" b="b" t="t" l="l"/>
            <a:pathLst>
              <a:path h="4452975" w="7412017">
                <a:moveTo>
                  <a:pt x="0" y="0"/>
                </a:moveTo>
                <a:lnTo>
                  <a:pt x="7412017" y="0"/>
                </a:lnTo>
                <a:lnTo>
                  <a:pt x="7412017" y="4452974"/>
                </a:lnTo>
                <a:lnTo>
                  <a:pt x="0" y="4452974"/>
                </a:lnTo>
                <a:lnTo>
                  <a:pt x="0" y="0"/>
                </a:lnTo>
                <a:close/>
              </a:path>
            </a:pathLst>
          </a:custGeom>
          <a:blipFill>
            <a:blip r:embed="rId4"/>
            <a:stretch>
              <a:fillRect l="-3428" t="0" r="-3428" b="0"/>
            </a:stretch>
          </a:blipFill>
        </p:spPr>
      </p:sp>
      <p:sp>
        <p:nvSpPr>
          <p:cNvPr name="Freeform 21" id="21"/>
          <p:cNvSpPr/>
          <p:nvPr/>
        </p:nvSpPr>
        <p:spPr>
          <a:xfrm flipH="false" flipV="false" rot="0">
            <a:off x="9460998" y="2880852"/>
            <a:ext cx="7412017" cy="4452975"/>
          </a:xfrm>
          <a:custGeom>
            <a:avLst/>
            <a:gdLst/>
            <a:ahLst/>
            <a:cxnLst/>
            <a:rect r="r" b="b" t="t" l="l"/>
            <a:pathLst>
              <a:path h="4452975" w="7412017">
                <a:moveTo>
                  <a:pt x="0" y="0"/>
                </a:moveTo>
                <a:lnTo>
                  <a:pt x="7412017" y="0"/>
                </a:lnTo>
                <a:lnTo>
                  <a:pt x="7412017" y="4452974"/>
                </a:lnTo>
                <a:lnTo>
                  <a:pt x="0" y="4452974"/>
                </a:lnTo>
                <a:lnTo>
                  <a:pt x="0" y="0"/>
                </a:lnTo>
                <a:close/>
              </a:path>
            </a:pathLst>
          </a:custGeom>
          <a:blipFill>
            <a:blip r:embed="rId5"/>
            <a:stretch>
              <a:fillRect l="-3428" t="0" r="-3428" b="0"/>
            </a:stretch>
          </a:blipFill>
        </p:spPr>
      </p:sp>
      <p:sp>
        <p:nvSpPr>
          <p:cNvPr name="TextBox 22" id="22"/>
          <p:cNvSpPr txBox="true"/>
          <p:nvPr/>
        </p:nvSpPr>
        <p:spPr>
          <a:xfrm rot="0">
            <a:off x="1684751" y="1489440"/>
            <a:ext cx="15188264" cy="1000887"/>
          </a:xfrm>
          <a:prstGeom prst="rect">
            <a:avLst/>
          </a:prstGeom>
        </p:spPr>
        <p:txBody>
          <a:bodyPr anchor="t" rtlCol="false" tIns="0" lIns="0" bIns="0" rIns="0">
            <a:spAutoFit/>
          </a:bodyPr>
          <a:lstStyle/>
          <a:p>
            <a:pPr algn="l">
              <a:lnSpc>
                <a:spcPts val="7307"/>
              </a:lnSpc>
              <a:spcBef>
                <a:spcPct val="0"/>
              </a:spcBef>
            </a:pPr>
            <a:r>
              <a:rPr lang="en-US" sz="5220">
                <a:solidFill>
                  <a:srgbClr val="6E4823"/>
                </a:solidFill>
                <a:latin typeface="Times New Roman"/>
                <a:ea typeface="Times New Roman"/>
                <a:cs typeface="Times New Roman"/>
                <a:sym typeface="Times New Roman"/>
              </a:rPr>
              <a:t>Super Admin Dashboard:</a:t>
            </a:r>
          </a:p>
        </p:txBody>
      </p:sp>
      <p:sp>
        <p:nvSpPr>
          <p:cNvPr name="TextBox 23" id="23"/>
          <p:cNvSpPr txBox="true"/>
          <p:nvPr/>
        </p:nvSpPr>
        <p:spPr>
          <a:xfrm rot="0">
            <a:off x="1684751" y="7901603"/>
            <a:ext cx="2913559" cy="646589"/>
          </a:xfrm>
          <a:prstGeom prst="rect">
            <a:avLst/>
          </a:prstGeom>
        </p:spPr>
        <p:txBody>
          <a:bodyPr anchor="t" rtlCol="false" tIns="0" lIns="0" bIns="0" rIns="0">
            <a:spAutoFit/>
          </a:bodyPr>
          <a:lstStyle/>
          <a:p>
            <a:pPr algn="ctr">
              <a:lnSpc>
                <a:spcPts val="4788"/>
              </a:lnSpc>
              <a:spcBef>
                <a:spcPct val="0"/>
              </a:spcBef>
            </a:pPr>
            <a:r>
              <a:rPr lang="en-US" sz="3420">
                <a:solidFill>
                  <a:srgbClr val="6E4823"/>
                </a:solidFill>
                <a:latin typeface="Times New Roman"/>
                <a:ea typeface="Times New Roman"/>
                <a:cs typeface="Times New Roman"/>
                <a:sym typeface="Times New Roman"/>
              </a:rPr>
              <a:t>Samastha Link:</a:t>
            </a:r>
          </a:p>
        </p:txBody>
      </p:sp>
      <p:sp>
        <p:nvSpPr>
          <p:cNvPr name="TextBox 24" id="24"/>
          <p:cNvSpPr txBox="true"/>
          <p:nvPr/>
        </p:nvSpPr>
        <p:spPr>
          <a:xfrm rot="0">
            <a:off x="5011432" y="7876550"/>
            <a:ext cx="4906533" cy="671642"/>
          </a:xfrm>
          <a:prstGeom prst="rect">
            <a:avLst/>
          </a:prstGeom>
        </p:spPr>
        <p:txBody>
          <a:bodyPr anchor="t" rtlCol="false" tIns="0" lIns="0" bIns="0" rIns="0">
            <a:spAutoFit/>
          </a:bodyPr>
          <a:lstStyle/>
          <a:p>
            <a:pPr algn="ctr">
              <a:lnSpc>
                <a:spcPts val="4984"/>
              </a:lnSpc>
              <a:spcBef>
                <a:spcPct val="0"/>
              </a:spcBef>
            </a:pPr>
            <a:r>
              <a:rPr lang="en-US" sz="3560" u="sng">
                <a:solidFill>
                  <a:srgbClr val="5271FF"/>
                </a:solidFill>
                <a:latin typeface="Times New Roman"/>
                <a:ea typeface="Times New Roman"/>
                <a:cs typeface="Times New Roman"/>
                <a:sym typeface="Times New Roman"/>
              </a:rPr>
              <a:t>www.samasthabroad.com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2ED"/>
        </a:solidFill>
      </p:bgPr>
    </p:bg>
    <p:spTree>
      <p:nvGrpSpPr>
        <p:cNvPr id="1" name=""/>
        <p:cNvGrpSpPr/>
        <p:nvPr/>
      </p:nvGrpSpPr>
      <p:grpSpPr>
        <a:xfrm>
          <a:off x="0" y="0"/>
          <a:ext cx="0" cy="0"/>
          <a:chOff x="0" y="0"/>
          <a:chExt cx="0" cy="0"/>
        </a:xfrm>
      </p:grpSpPr>
      <p:sp>
        <p:nvSpPr>
          <p:cNvPr name="Freeform 2" id="2"/>
          <p:cNvSpPr/>
          <p:nvPr/>
        </p:nvSpPr>
        <p:spPr>
          <a:xfrm flipH="false" flipV="true" rot="5400000">
            <a:off x="13382135" y="-124826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5400000">
            <a:off x="133821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69662" y="10063142"/>
            <a:ext cx="18332860" cy="445690"/>
            <a:chOff x="0" y="0"/>
            <a:chExt cx="4828408" cy="117383"/>
          </a:xfrm>
        </p:grpSpPr>
        <p:sp>
          <p:nvSpPr>
            <p:cNvPr name="Freeform 5" id="5"/>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6" id="6"/>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69662" y="-221832"/>
            <a:ext cx="18332860" cy="445690"/>
            <a:chOff x="0" y="0"/>
            <a:chExt cx="4828408" cy="117383"/>
          </a:xfrm>
        </p:grpSpPr>
        <p:sp>
          <p:nvSpPr>
            <p:cNvPr name="Freeform 8" id="8"/>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9" id="9"/>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sp>
        <p:nvSpPr>
          <p:cNvPr name="AutoShape 10" id="10"/>
          <p:cNvSpPr/>
          <p:nvPr/>
        </p:nvSpPr>
        <p:spPr>
          <a:xfrm>
            <a:off x="6148848" y="1408207"/>
            <a:ext cx="6904464" cy="0"/>
          </a:xfrm>
          <a:prstGeom prst="line">
            <a:avLst/>
          </a:prstGeom>
          <a:ln cap="flat" w="38100">
            <a:solidFill>
              <a:srgbClr val="AA8C6A"/>
            </a:solidFill>
            <a:prstDash val="solid"/>
            <a:headEnd type="none" len="sm" w="sm"/>
            <a:tailEnd type="none" len="sm" w="sm"/>
          </a:ln>
        </p:spPr>
      </p:sp>
      <p:grpSp>
        <p:nvGrpSpPr>
          <p:cNvPr name="Group 11" id="11"/>
          <p:cNvGrpSpPr/>
          <p:nvPr/>
        </p:nvGrpSpPr>
        <p:grpSpPr>
          <a:xfrm rot="0">
            <a:off x="15496685" y="-2295812"/>
            <a:ext cx="1543050" cy="15297724"/>
            <a:chOff x="0" y="0"/>
            <a:chExt cx="406400" cy="4029030"/>
          </a:xfrm>
        </p:grpSpPr>
        <p:sp>
          <p:nvSpPr>
            <p:cNvPr name="Freeform 12" id="12"/>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13" id="13"/>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true" rot="-5400000">
            <a:off x="-24093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true" rot="5400000">
            <a:off x="-2409335" y="-1167282"/>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6" id="16"/>
          <p:cNvGrpSpPr/>
          <p:nvPr/>
        </p:nvGrpSpPr>
        <p:grpSpPr>
          <a:xfrm rot="0">
            <a:off x="1248265" y="-3074580"/>
            <a:ext cx="1543050" cy="15297724"/>
            <a:chOff x="0" y="0"/>
            <a:chExt cx="406400" cy="4029030"/>
          </a:xfrm>
        </p:grpSpPr>
        <p:sp>
          <p:nvSpPr>
            <p:cNvPr name="Freeform 17" id="17"/>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18" id="18"/>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
        <p:nvSpPr>
          <p:cNvPr name="Freeform 19" id="19"/>
          <p:cNvSpPr/>
          <p:nvPr/>
        </p:nvSpPr>
        <p:spPr>
          <a:xfrm flipH="false" flipV="false" rot="0">
            <a:off x="2809186" y="1974544"/>
            <a:ext cx="12982284" cy="7523270"/>
          </a:xfrm>
          <a:custGeom>
            <a:avLst/>
            <a:gdLst/>
            <a:ahLst/>
            <a:cxnLst/>
            <a:rect r="r" b="b" t="t" l="l"/>
            <a:pathLst>
              <a:path h="7523270" w="12982284">
                <a:moveTo>
                  <a:pt x="0" y="0"/>
                </a:moveTo>
                <a:lnTo>
                  <a:pt x="12982284" y="0"/>
                </a:lnTo>
                <a:lnTo>
                  <a:pt x="12982284" y="7523270"/>
                </a:lnTo>
                <a:lnTo>
                  <a:pt x="0" y="7523270"/>
                </a:lnTo>
                <a:lnTo>
                  <a:pt x="0" y="0"/>
                </a:lnTo>
                <a:close/>
              </a:path>
            </a:pathLst>
          </a:custGeom>
          <a:blipFill>
            <a:blip r:embed="rId4"/>
            <a:stretch>
              <a:fillRect l="-1536" t="0" r="-1536" b="0"/>
            </a:stretch>
          </a:blipFill>
        </p:spPr>
      </p:sp>
      <p:sp>
        <p:nvSpPr>
          <p:cNvPr name="TextBox 20" id="20"/>
          <p:cNvSpPr txBox="true"/>
          <p:nvPr/>
        </p:nvSpPr>
        <p:spPr>
          <a:xfrm rot="0">
            <a:off x="6148848" y="458693"/>
            <a:ext cx="8537178" cy="949514"/>
          </a:xfrm>
          <a:prstGeom prst="rect">
            <a:avLst/>
          </a:prstGeom>
        </p:spPr>
        <p:txBody>
          <a:bodyPr anchor="t" rtlCol="false" tIns="0" lIns="0" bIns="0" rIns="0">
            <a:spAutoFit/>
          </a:bodyPr>
          <a:lstStyle/>
          <a:p>
            <a:pPr algn="l">
              <a:lnSpc>
                <a:spcPts val="6989"/>
              </a:lnSpc>
            </a:pPr>
            <a:r>
              <a:rPr lang="en-US" sz="4992" b="true">
                <a:solidFill>
                  <a:srgbClr val="6E4823"/>
                </a:solidFill>
                <a:latin typeface="Times New Roman Bold"/>
                <a:ea typeface="Times New Roman Bold"/>
                <a:cs typeface="Times New Roman Bold"/>
                <a:sym typeface="Times New Roman Bold"/>
              </a:rPr>
              <a:t>ADMIN DASHBOARD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7F2ED"/>
        </a:solidFill>
      </p:bgPr>
    </p:bg>
    <p:spTree>
      <p:nvGrpSpPr>
        <p:cNvPr id="1" name=""/>
        <p:cNvGrpSpPr/>
        <p:nvPr/>
      </p:nvGrpSpPr>
      <p:grpSpPr>
        <a:xfrm>
          <a:off x="0" y="0"/>
          <a:ext cx="0" cy="0"/>
          <a:chOff x="0" y="0"/>
          <a:chExt cx="0" cy="0"/>
        </a:xfrm>
      </p:grpSpPr>
      <p:sp>
        <p:nvSpPr>
          <p:cNvPr name="TextBox 2" id="2"/>
          <p:cNvSpPr txBox="true"/>
          <p:nvPr/>
        </p:nvSpPr>
        <p:spPr>
          <a:xfrm rot="0">
            <a:off x="0" y="365184"/>
            <a:ext cx="18263198" cy="949548"/>
          </a:xfrm>
          <a:prstGeom prst="rect">
            <a:avLst/>
          </a:prstGeom>
        </p:spPr>
        <p:txBody>
          <a:bodyPr anchor="t" rtlCol="false" tIns="0" lIns="0" bIns="0" rIns="0">
            <a:spAutoFit/>
          </a:bodyPr>
          <a:lstStyle/>
          <a:p>
            <a:pPr algn="ctr">
              <a:lnSpc>
                <a:spcPts val="6989"/>
              </a:lnSpc>
            </a:pPr>
            <a:r>
              <a:rPr lang="en-US" b="true" sz="4992">
                <a:solidFill>
                  <a:srgbClr val="6E4823"/>
                </a:solidFill>
                <a:latin typeface="Times New Roman Bold"/>
                <a:ea typeface="Times New Roman Bold"/>
                <a:cs typeface="Times New Roman Bold"/>
                <a:sym typeface="Times New Roman Bold"/>
              </a:rPr>
              <a:t>STUDENT DASHBOARD</a:t>
            </a:r>
          </a:p>
        </p:txBody>
      </p:sp>
      <p:sp>
        <p:nvSpPr>
          <p:cNvPr name="Freeform 3" id="3"/>
          <p:cNvSpPr/>
          <p:nvPr/>
        </p:nvSpPr>
        <p:spPr>
          <a:xfrm flipH="false" flipV="true" rot="5400000">
            <a:off x="13382135" y="-124826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5400000">
            <a:off x="133821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69662" y="10063142"/>
            <a:ext cx="18332860" cy="445690"/>
            <a:chOff x="0" y="0"/>
            <a:chExt cx="4828408" cy="117383"/>
          </a:xfrm>
        </p:grpSpPr>
        <p:sp>
          <p:nvSpPr>
            <p:cNvPr name="Freeform 6" id="6"/>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7" id="7"/>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69662" y="-221832"/>
            <a:ext cx="18332860" cy="445690"/>
            <a:chOff x="0" y="0"/>
            <a:chExt cx="4828408" cy="117383"/>
          </a:xfrm>
        </p:grpSpPr>
        <p:sp>
          <p:nvSpPr>
            <p:cNvPr name="Freeform 9" id="9"/>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10" id="10"/>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sp>
        <p:nvSpPr>
          <p:cNvPr name="AutoShape 11" id="11"/>
          <p:cNvSpPr/>
          <p:nvPr/>
        </p:nvSpPr>
        <p:spPr>
          <a:xfrm>
            <a:off x="5003367" y="1314732"/>
            <a:ext cx="8186077" cy="0"/>
          </a:xfrm>
          <a:prstGeom prst="line">
            <a:avLst/>
          </a:prstGeom>
          <a:ln cap="flat" w="38100">
            <a:solidFill>
              <a:srgbClr val="AA8C6A"/>
            </a:solidFill>
            <a:prstDash val="solid"/>
            <a:headEnd type="none" len="sm" w="sm"/>
            <a:tailEnd type="none" len="sm" w="sm"/>
          </a:ln>
        </p:spPr>
      </p:sp>
      <p:grpSp>
        <p:nvGrpSpPr>
          <p:cNvPr name="Group 12" id="12"/>
          <p:cNvGrpSpPr/>
          <p:nvPr/>
        </p:nvGrpSpPr>
        <p:grpSpPr>
          <a:xfrm rot="0">
            <a:off x="15496685" y="-2295812"/>
            <a:ext cx="1543050" cy="15297724"/>
            <a:chOff x="0" y="0"/>
            <a:chExt cx="406400" cy="4029030"/>
          </a:xfrm>
        </p:grpSpPr>
        <p:sp>
          <p:nvSpPr>
            <p:cNvPr name="Freeform 13" id="13"/>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14" id="14"/>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true" rot="-5400000">
            <a:off x="-24093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true" rot="5400000">
            <a:off x="-2409335" y="-1167282"/>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7" id="17"/>
          <p:cNvGrpSpPr/>
          <p:nvPr/>
        </p:nvGrpSpPr>
        <p:grpSpPr>
          <a:xfrm rot="0">
            <a:off x="1248265" y="-3074580"/>
            <a:ext cx="1543050" cy="15297724"/>
            <a:chOff x="0" y="0"/>
            <a:chExt cx="406400" cy="4029030"/>
          </a:xfrm>
        </p:grpSpPr>
        <p:sp>
          <p:nvSpPr>
            <p:cNvPr name="Freeform 18" id="18"/>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19" id="19"/>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3828914" y="1667157"/>
            <a:ext cx="10924957" cy="7904213"/>
          </a:xfrm>
          <a:custGeom>
            <a:avLst/>
            <a:gdLst/>
            <a:ahLst/>
            <a:cxnLst/>
            <a:rect r="r" b="b" t="t" l="l"/>
            <a:pathLst>
              <a:path h="7904213" w="10924957">
                <a:moveTo>
                  <a:pt x="0" y="0"/>
                </a:moveTo>
                <a:lnTo>
                  <a:pt x="10924957" y="0"/>
                </a:lnTo>
                <a:lnTo>
                  <a:pt x="10924957" y="7904212"/>
                </a:lnTo>
                <a:lnTo>
                  <a:pt x="0" y="7904212"/>
                </a:lnTo>
                <a:lnTo>
                  <a:pt x="0" y="0"/>
                </a:lnTo>
                <a:close/>
              </a:path>
            </a:pathLst>
          </a:custGeom>
          <a:blipFill>
            <a:blip r:embed="rId4"/>
            <a:stretch>
              <a:fillRect l="0" t="-482" r="0" b="-482"/>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7F2ED"/>
        </a:solidFill>
      </p:bgPr>
    </p:bg>
    <p:spTree>
      <p:nvGrpSpPr>
        <p:cNvPr id="1" name=""/>
        <p:cNvGrpSpPr/>
        <p:nvPr/>
      </p:nvGrpSpPr>
      <p:grpSpPr>
        <a:xfrm>
          <a:off x="0" y="0"/>
          <a:ext cx="0" cy="0"/>
          <a:chOff x="0" y="0"/>
          <a:chExt cx="0" cy="0"/>
        </a:xfrm>
      </p:grpSpPr>
      <p:sp>
        <p:nvSpPr>
          <p:cNvPr name="TextBox 2" id="2"/>
          <p:cNvSpPr txBox="true"/>
          <p:nvPr/>
        </p:nvSpPr>
        <p:spPr>
          <a:xfrm rot="0">
            <a:off x="0" y="2149258"/>
            <a:ext cx="18263198" cy="1554007"/>
          </a:xfrm>
          <a:prstGeom prst="rect">
            <a:avLst/>
          </a:prstGeom>
        </p:spPr>
        <p:txBody>
          <a:bodyPr anchor="t" rtlCol="false" tIns="0" lIns="0" bIns="0" rIns="0">
            <a:spAutoFit/>
          </a:bodyPr>
          <a:lstStyle/>
          <a:p>
            <a:pPr algn="ctr">
              <a:lnSpc>
                <a:spcPts val="11469"/>
              </a:lnSpc>
            </a:pPr>
            <a:r>
              <a:rPr lang="en-US" b="true" sz="8192">
                <a:solidFill>
                  <a:srgbClr val="6E4823"/>
                </a:solidFill>
                <a:latin typeface="Times New Roman Bold"/>
                <a:ea typeface="Times New Roman Bold"/>
                <a:cs typeface="Times New Roman Bold"/>
                <a:sym typeface="Times New Roman Bold"/>
              </a:rPr>
              <a:t>CONCLUSION</a:t>
            </a:r>
          </a:p>
        </p:txBody>
      </p:sp>
      <p:sp>
        <p:nvSpPr>
          <p:cNvPr name="TextBox 3" id="3"/>
          <p:cNvSpPr txBox="true"/>
          <p:nvPr/>
        </p:nvSpPr>
        <p:spPr>
          <a:xfrm rot="0">
            <a:off x="3565774" y="4020102"/>
            <a:ext cx="11156451" cy="3231597"/>
          </a:xfrm>
          <a:prstGeom prst="rect">
            <a:avLst/>
          </a:prstGeom>
        </p:spPr>
        <p:txBody>
          <a:bodyPr anchor="t" rtlCol="false" tIns="0" lIns="0" bIns="0" rIns="0">
            <a:spAutoFit/>
          </a:bodyPr>
          <a:lstStyle/>
          <a:p>
            <a:pPr algn="just">
              <a:lnSpc>
                <a:spcPts val="5096"/>
              </a:lnSpc>
            </a:pPr>
            <a:r>
              <a:rPr lang="en-US" sz="3640">
                <a:solidFill>
                  <a:srgbClr val="6E4823"/>
                </a:solidFill>
                <a:latin typeface="Times New Roman"/>
                <a:ea typeface="Times New Roman"/>
                <a:cs typeface="Times New Roman"/>
                <a:sym typeface="Times New Roman"/>
              </a:rPr>
              <a:t>The project provides a structured, role-based platform for managing students and delivering personalized academic services. My main role was in UI development and API integration to ensure a smooth and interactive user experience.</a:t>
            </a:r>
          </a:p>
        </p:txBody>
      </p:sp>
      <p:sp>
        <p:nvSpPr>
          <p:cNvPr name="Freeform 4" id="4"/>
          <p:cNvSpPr/>
          <p:nvPr/>
        </p:nvSpPr>
        <p:spPr>
          <a:xfrm flipH="false" flipV="true" rot="5400000">
            <a:off x="13382135" y="-124826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5400000">
            <a:off x="133821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69662" y="10063142"/>
            <a:ext cx="18332860" cy="445690"/>
            <a:chOff x="0" y="0"/>
            <a:chExt cx="4828408" cy="117383"/>
          </a:xfrm>
        </p:grpSpPr>
        <p:sp>
          <p:nvSpPr>
            <p:cNvPr name="Freeform 7" id="7"/>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8" id="8"/>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69662" y="-221832"/>
            <a:ext cx="18332860" cy="445690"/>
            <a:chOff x="0" y="0"/>
            <a:chExt cx="4828408" cy="117383"/>
          </a:xfrm>
        </p:grpSpPr>
        <p:sp>
          <p:nvSpPr>
            <p:cNvPr name="Freeform 10" id="10"/>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11" id="11"/>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sp>
        <p:nvSpPr>
          <p:cNvPr name="AutoShape 12" id="12"/>
          <p:cNvSpPr/>
          <p:nvPr/>
        </p:nvSpPr>
        <p:spPr>
          <a:xfrm>
            <a:off x="5051118" y="3703265"/>
            <a:ext cx="8406118" cy="0"/>
          </a:xfrm>
          <a:prstGeom prst="line">
            <a:avLst/>
          </a:prstGeom>
          <a:ln cap="flat" w="38100">
            <a:solidFill>
              <a:srgbClr val="AA8C6A"/>
            </a:solidFill>
            <a:prstDash val="solid"/>
            <a:headEnd type="none" len="sm" w="sm"/>
            <a:tailEnd type="none" len="sm" w="sm"/>
          </a:ln>
        </p:spPr>
      </p:sp>
      <p:grpSp>
        <p:nvGrpSpPr>
          <p:cNvPr name="Group 13" id="13"/>
          <p:cNvGrpSpPr/>
          <p:nvPr/>
        </p:nvGrpSpPr>
        <p:grpSpPr>
          <a:xfrm rot="0">
            <a:off x="15496685" y="-2295812"/>
            <a:ext cx="1543050" cy="15297724"/>
            <a:chOff x="0" y="0"/>
            <a:chExt cx="406400" cy="4029030"/>
          </a:xfrm>
        </p:grpSpPr>
        <p:sp>
          <p:nvSpPr>
            <p:cNvPr name="Freeform 14" id="14"/>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15" id="15"/>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true" rot="-5400000">
            <a:off x="-24093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true" rot="5400000">
            <a:off x="-2409335" y="-1167282"/>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8" id="18"/>
          <p:cNvGrpSpPr/>
          <p:nvPr/>
        </p:nvGrpSpPr>
        <p:grpSpPr>
          <a:xfrm rot="0">
            <a:off x="1248265" y="-3074580"/>
            <a:ext cx="1543050" cy="15297724"/>
            <a:chOff x="0" y="0"/>
            <a:chExt cx="406400" cy="4029030"/>
          </a:xfrm>
        </p:grpSpPr>
        <p:sp>
          <p:nvSpPr>
            <p:cNvPr name="Freeform 19" id="19"/>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20" id="20"/>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7F2ED"/>
        </a:solidFill>
      </p:bgPr>
    </p:bg>
    <p:spTree>
      <p:nvGrpSpPr>
        <p:cNvPr id="1" name=""/>
        <p:cNvGrpSpPr/>
        <p:nvPr/>
      </p:nvGrpSpPr>
      <p:grpSpPr>
        <a:xfrm>
          <a:off x="0" y="0"/>
          <a:ext cx="0" cy="0"/>
          <a:chOff x="0" y="0"/>
          <a:chExt cx="0" cy="0"/>
        </a:xfrm>
      </p:grpSpPr>
      <p:sp>
        <p:nvSpPr>
          <p:cNvPr name="TextBox 2" id="2"/>
          <p:cNvSpPr txBox="true"/>
          <p:nvPr/>
        </p:nvSpPr>
        <p:spPr>
          <a:xfrm rot="0">
            <a:off x="3610403" y="4185229"/>
            <a:ext cx="10972730" cy="1936029"/>
          </a:xfrm>
          <a:prstGeom prst="rect">
            <a:avLst/>
          </a:prstGeom>
        </p:spPr>
        <p:txBody>
          <a:bodyPr anchor="t" rtlCol="false" tIns="0" lIns="0" bIns="0" rIns="0">
            <a:spAutoFit/>
          </a:bodyPr>
          <a:lstStyle/>
          <a:p>
            <a:pPr algn="ctr">
              <a:lnSpc>
                <a:spcPts val="14970"/>
              </a:lnSpc>
            </a:pPr>
            <a:r>
              <a:rPr lang="en-US" b="true" sz="13366">
                <a:solidFill>
                  <a:srgbClr val="6E4823"/>
                </a:solidFill>
                <a:latin typeface="Unna Bold"/>
                <a:ea typeface="Unna Bold"/>
                <a:cs typeface="Unna Bold"/>
                <a:sym typeface="Unna Bold"/>
              </a:rPr>
              <a:t>THANK YOU</a:t>
            </a:r>
          </a:p>
        </p:txBody>
      </p:sp>
      <p:sp>
        <p:nvSpPr>
          <p:cNvPr name="Freeform 3" id="3"/>
          <p:cNvSpPr/>
          <p:nvPr/>
        </p:nvSpPr>
        <p:spPr>
          <a:xfrm flipH="false" flipV="true" rot="5400000">
            <a:off x="13382135" y="-124826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5400000">
            <a:off x="133821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69662" y="10063142"/>
            <a:ext cx="18332860" cy="445690"/>
            <a:chOff x="0" y="0"/>
            <a:chExt cx="4828408" cy="117383"/>
          </a:xfrm>
        </p:grpSpPr>
        <p:sp>
          <p:nvSpPr>
            <p:cNvPr name="Freeform 6" id="6"/>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7" id="7"/>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69662" y="-221832"/>
            <a:ext cx="18332860" cy="445690"/>
            <a:chOff x="0" y="0"/>
            <a:chExt cx="4828408" cy="117383"/>
          </a:xfrm>
        </p:grpSpPr>
        <p:sp>
          <p:nvSpPr>
            <p:cNvPr name="Freeform 9" id="9"/>
            <p:cNvSpPr/>
            <p:nvPr/>
          </p:nvSpPr>
          <p:spPr>
            <a:xfrm flipH="false" flipV="false" rot="0">
              <a:off x="0" y="0"/>
              <a:ext cx="4828408" cy="117383"/>
            </a:xfrm>
            <a:custGeom>
              <a:avLst/>
              <a:gdLst/>
              <a:ahLst/>
              <a:cxnLst/>
              <a:rect r="r" b="b" t="t" l="l"/>
              <a:pathLst>
                <a:path h="117383" w="4828408">
                  <a:moveTo>
                    <a:pt x="0" y="0"/>
                  </a:moveTo>
                  <a:lnTo>
                    <a:pt x="4828408" y="0"/>
                  </a:lnTo>
                  <a:lnTo>
                    <a:pt x="4828408" y="117383"/>
                  </a:lnTo>
                  <a:lnTo>
                    <a:pt x="0" y="117383"/>
                  </a:lnTo>
                  <a:close/>
                </a:path>
              </a:pathLst>
            </a:custGeom>
            <a:solidFill>
              <a:srgbClr val="997552"/>
            </a:solidFill>
          </p:spPr>
        </p:sp>
        <p:sp>
          <p:nvSpPr>
            <p:cNvPr name="TextBox 10" id="10"/>
            <p:cNvSpPr txBox="true"/>
            <p:nvPr/>
          </p:nvSpPr>
          <p:spPr>
            <a:xfrm>
              <a:off x="0" y="-38100"/>
              <a:ext cx="4828408" cy="155483"/>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5496685" y="-2295812"/>
            <a:ext cx="1543050" cy="15297724"/>
            <a:chOff x="0" y="0"/>
            <a:chExt cx="406400" cy="4029030"/>
          </a:xfrm>
        </p:grpSpPr>
        <p:sp>
          <p:nvSpPr>
            <p:cNvPr name="Freeform 12" id="12"/>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13" id="13"/>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true" rot="-5400000">
            <a:off x="-2409335" y="9038735"/>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true" rot="5400000">
            <a:off x="-2409335" y="-1167282"/>
            <a:ext cx="7315200" cy="2496530"/>
          </a:xfrm>
          <a:custGeom>
            <a:avLst/>
            <a:gdLst/>
            <a:ahLst/>
            <a:cxnLst/>
            <a:rect r="r" b="b" t="t" l="l"/>
            <a:pathLst>
              <a:path h="2496530" w="7315200">
                <a:moveTo>
                  <a:pt x="0" y="2496530"/>
                </a:moveTo>
                <a:lnTo>
                  <a:pt x="7315200" y="2496530"/>
                </a:lnTo>
                <a:lnTo>
                  <a:pt x="7315200" y="0"/>
                </a:lnTo>
                <a:lnTo>
                  <a:pt x="0" y="0"/>
                </a:lnTo>
                <a:lnTo>
                  <a:pt x="0" y="249653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6" id="16"/>
          <p:cNvGrpSpPr/>
          <p:nvPr/>
        </p:nvGrpSpPr>
        <p:grpSpPr>
          <a:xfrm rot="0">
            <a:off x="1248265" y="-3074580"/>
            <a:ext cx="1543050" cy="15297724"/>
            <a:chOff x="0" y="0"/>
            <a:chExt cx="406400" cy="4029030"/>
          </a:xfrm>
        </p:grpSpPr>
        <p:sp>
          <p:nvSpPr>
            <p:cNvPr name="Freeform 17" id="17"/>
            <p:cNvSpPr/>
            <p:nvPr/>
          </p:nvSpPr>
          <p:spPr>
            <a:xfrm flipH="false" flipV="false" rot="0">
              <a:off x="0" y="0"/>
              <a:ext cx="406400" cy="4029030"/>
            </a:xfrm>
            <a:custGeom>
              <a:avLst/>
              <a:gdLst/>
              <a:ahLst/>
              <a:cxnLst/>
              <a:rect r="r" b="b" t="t" l="l"/>
              <a:pathLst>
                <a:path h="4029030" w="406400">
                  <a:moveTo>
                    <a:pt x="0" y="0"/>
                  </a:moveTo>
                  <a:lnTo>
                    <a:pt x="406400" y="0"/>
                  </a:lnTo>
                  <a:lnTo>
                    <a:pt x="406400" y="4029030"/>
                  </a:lnTo>
                  <a:lnTo>
                    <a:pt x="0" y="4029030"/>
                  </a:lnTo>
                  <a:close/>
                </a:path>
              </a:pathLst>
            </a:custGeom>
            <a:solidFill>
              <a:srgbClr val="F7F2ED"/>
            </a:solidFill>
          </p:spPr>
        </p:sp>
        <p:sp>
          <p:nvSpPr>
            <p:cNvPr name="TextBox 18" id="18"/>
            <p:cNvSpPr txBox="true"/>
            <p:nvPr/>
          </p:nvSpPr>
          <p:spPr>
            <a:xfrm>
              <a:off x="0" y="-38100"/>
              <a:ext cx="406400" cy="406713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DAGlk2a-xw0</dc:identifier>
  <dcterms:modified xsi:type="dcterms:W3CDTF">2011-08-01T06:04:30Z</dcterms:modified>
  <cp:revision>1</cp:revision>
  <dc:title>SAMASTHA</dc:title>
</cp:coreProperties>
</file>